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Naive RAG</c:v>
                </c:pt>
              </c:strCache>
            </c:strRef>
          </c:tx>
          <c:spPr>
            <a:solidFill>
              <a:srgbClr val="B8C2C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Accuracy</c:v>
                  </c:pt>
                  <c:pt idx="1">
                    <c:v>Completeness</c:v>
                  </c:pt>
                  <c:pt idx="2">
                    <c:v>Relevance</c:v>
                  </c:pt>
                  <c:pt idx="3">
                    <c:v>Faithfulness</c:v>
                  </c:pt>
                  <c:pt idx="4">
                    <c:v>Tổng</c:v>
                  </c:pt>
                </c:lvl>
              </c:multiLvlStrCache>
            </c:multiLvlStrRef>
          </c:cat>
          <c:val>
            <c:numRef>
              <c:f>Sheet1!$B$2:$B$6</c:f>
              <c:numCache>
                <c:formatCode>General</c:formatCode>
                <c:ptCount val="5"/>
                <c:pt idx="0">
                  <c:v>5.8</c:v>
                </c:pt>
                <c:pt idx="1">
                  <c:v>4.9</c:v>
                </c:pt>
                <c:pt idx="2">
                  <c:v>6.5</c:v>
                </c:pt>
                <c:pt idx="3">
                  <c:v>7.9</c:v>
                </c:pt>
                <c:pt idx="4">
                  <c:v>6.3</c:v>
                </c:pt>
              </c:numCache>
            </c:numRef>
          </c:val>
        </c:ser>
        <c:ser>
          <c:idx val="1"/>
          <c:order val="1"/>
          <c:tx>
            <c:strRef>
              <c:f>Sheet1!$C$1</c:f>
              <c:strCache>
                <c:ptCount val="1"/>
                <c:pt idx="0">
                  <c:v>RAPTOR + CRAG</c:v>
                </c:pt>
              </c:strCache>
            </c:strRef>
          </c:tx>
          <c:spPr>
            <a:solidFill>
              <a:srgbClr val="F2A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Accuracy</c:v>
                  </c:pt>
                  <c:pt idx="1">
                    <c:v>Completeness</c:v>
                  </c:pt>
                  <c:pt idx="2">
                    <c:v>Relevance</c:v>
                  </c:pt>
                  <c:pt idx="3">
                    <c:v>Faithfulness</c:v>
                  </c:pt>
                  <c:pt idx="4">
                    <c:v>Tổng</c:v>
                  </c:pt>
                </c:lvl>
              </c:multiLvlStrCache>
            </c:multiLvlStrRef>
          </c:cat>
          <c:val>
            <c:numRef>
              <c:f>Sheet1!$C$2:$C$6</c:f>
              <c:numCache>
                <c:formatCode>General</c:formatCode>
                <c:ptCount val="5"/>
                <c:pt idx="0">
                  <c:v>6.38</c:v>
                </c:pt>
                <c:pt idx="1">
                  <c:v>5.47</c:v>
                </c:pt>
                <c:pt idx="2">
                  <c:v>7.08</c:v>
                </c:pt>
                <c:pt idx="3">
                  <c:v>8.8</c:v>
                </c:pt>
                <c:pt idx="4">
                  <c:v>6.93</c:v>
                </c:pt>
              </c:numCache>
            </c:numRef>
          </c:val>
        </c:ser>
        <c:ser>
          <c:idx val="2"/>
          <c:order val="2"/>
          <c:tx>
            <c:strRef>
              <c:f>Sheet1!$D$1</c:f>
              <c:strCache>
                <c:ptCount val="1"/>
                <c:pt idx="0">
                  <c:v>Heading + CRAG</c:v>
                </c:pt>
              </c:strCache>
            </c:strRef>
          </c:tx>
          <c:spPr>
            <a:solidFill>
              <a:srgbClr val="5FA8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Accuracy</c:v>
                  </c:pt>
                  <c:pt idx="1">
                    <c:v>Completeness</c:v>
                  </c:pt>
                  <c:pt idx="2">
                    <c:v>Relevance</c:v>
                  </c:pt>
                  <c:pt idx="3">
                    <c:v>Faithfulness</c:v>
                  </c:pt>
                  <c:pt idx="4">
                    <c:v>Tổng</c:v>
                  </c:pt>
                </c:lvl>
              </c:multiLvlStrCache>
            </c:multiLvlStrRef>
          </c:cat>
          <c:val>
            <c:numRef>
              <c:f>Sheet1!$D$2:$D$6</c:f>
              <c:numCache>
                <c:formatCode>General</c:formatCode>
                <c:ptCount val="5"/>
                <c:pt idx="0">
                  <c:v>7.27</c:v>
                </c:pt>
                <c:pt idx="1">
                  <c:v>6.92</c:v>
                </c:pt>
                <c:pt idx="2">
                  <c:v>8.1</c:v>
                </c:pt>
                <c:pt idx="3">
                  <c:v>9.27</c:v>
                </c:pt>
                <c:pt idx="4">
                  <c:v>7.89</c:v>
                </c:pt>
              </c:numCache>
            </c:numRef>
          </c:val>
        </c:ser>
        <c:ser>
          <c:idx val="3"/>
          <c:order val="3"/>
          <c:tx>
            <c:strRef>
              <c:f>Sheet1!$E$1</c:f>
              <c:strCache>
                <c:ptCount val="1"/>
                <c:pt idx="0">
                  <c:v>HRAG (agent)</c:v>
                </c:pt>
              </c:strCache>
            </c:strRef>
          </c:tx>
          <c:spPr>
            <a:solidFill>
              <a:srgbClr val="0F2D4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Accuracy</c:v>
                  </c:pt>
                  <c:pt idx="1">
                    <c:v>Completeness</c:v>
                  </c:pt>
                  <c:pt idx="2">
                    <c:v>Relevance</c:v>
                  </c:pt>
                  <c:pt idx="3">
                    <c:v>Faithfulness</c:v>
                  </c:pt>
                  <c:pt idx="4">
                    <c:v>Tổng</c:v>
                  </c:pt>
                </c:lvl>
              </c:multiLvlStrCache>
            </c:multiLvlStrRef>
          </c:cat>
          <c:val>
            <c:numRef>
              <c:f>Sheet1!$E$2:$E$6</c:f>
              <c:numCache>
                <c:formatCode>General</c:formatCode>
                <c:ptCount val="5"/>
                <c:pt idx="0">
                  <c:v>8.22</c:v>
                </c:pt>
                <c:pt idx="1">
                  <c:v>8.38</c:v>
                </c:pt>
                <c:pt idx="2">
                  <c:v>8.42</c:v>
                </c:pt>
                <c:pt idx="3">
                  <c:v>9.15</c:v>
                </c:pt>
                <c:pt idx="4">
                  <c:v>8.54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E3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5"/>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1B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Quang mở đầu. Giới thiệu tên HRAG. Bài toán: hỏi đáp trên giáo trình Pháp luật đại cương dài khoảng 534 nghìn ký tự. Naive RAG cắt văn bản thành đoạn cố định nên mất cấu trúc, chỉ tìm một lần nên không biết kết quả đã đủ chưa, và không nhớ hội thoại. Nhóm xây HRAG để giải quyết ba vấn đề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Quang giới thiệu nhanh kiến trúc: giao diện, backend dạng tầng services, lõi RAG gồm agent, cây chỉ mục và bộ nhớ, lớp lưu trữ gồm PostgreSQL và file. Điểm đáng chú ý là Streamlit gọi trực tiếp tầng services, không qua HTTP. Giới thiệu phân công: Quang lo agent và đánh giá, Long lo backend, cơ sở dữ liệu và bộ nhớ, Tú lo giao diện.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Quang: thay vì cắt đoạn cố định hay gom cụm như RAPTOR, nhóm dùng chính heading của tài liệu làm cấu trúc cây. Giáo trình được lập thành 320 nút, 5 tầng, tốn 103 lần gọi LLM để tóm tắt, khoảng 5 phút. Lá giữ nguyên văn, nút cha là tóm tắt. Mỗi nút giữ số dòng nguồn nên trích dẫn được chính xác.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Quang: agent xây bằng LangGraph. Câu hỏi so sánh như so sánh quy phạm pháp luật và đạo đức được tách thành nhiều khía cạnh, mỗi khía cạnh chạy một vòng truy hồi riêng: chọn công cụ tìm kiếm, chấm điểm đoạn tìm được, rồi tự đánh giá đã đủ chưa. Nếu chưa đủ thì tìm tiếp, tối đa 5 vòng. Cuối cùng gộp ngữ cảnh và sinh câu trả lời có trích dẫn.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Quang: đánh giá trên 30 câu hỏi pháp luật tiếng Việt, mỗi câu chấm bốn tiêu chí bằng judge LLM. Naive RAG 6,3; RAPTOR kèm CRAG 6,93; cây heading kèm CRAG 7,89; HRAG đạt 8,54. Cải thiện lớn nhất ở Completeness nhờ tách khía cạnh. Độ nhiễu của judge khoảng 0,06 nên các chênh lệch này đều lớn hơn nhiễu. Chỉ có một tài liệu thử nghiệm nên cần mở rộng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trình bày. Backend là một tầng services thuần Python dùng chung cho giao diện và dòng lệnh. Dữ liệu lưu ở PostgreSQL 18 với 9 bảng, truy cập bất đồng bộ bằng SQLAlchemy và quản lý cấu trúc bằng Alembic. Bộ nhớ ngắn hạn giữ 5 lượt gần nhất, nén lịch sử cũ bằng LLM, và viết lại câu hỏi nối tiếp để agent hiểu được ngữ cảnh.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Tú thực hiện demo, khoảng 2,5 phút. Kịch bản: (1) mở project Pháp luật đại cương, lướt qua cây chỉ mục; (2) hỏi So sánh quy phạm pháp luật và quy phạm đạo đức, vừa chờ vừa chỉ hộp tiến trình các khía cạnh chạy song song; (3) bấm một chip trích dẫn để xem đoạn nguồn; (4) hỏi Vậy quy phạm pháp luật thì sao để cho thấy bộ nhớ hội thoại. Chuẩn bị: kiểm tra dịch vụ embedding còn hoạt động, chạy thử trước một lượt, và có video quay sẵn dự phòng.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kết luận. Kết quả: cây heading giữ cấu trúc, agent đa khía cạnh đạt 8,54 trên 10, hệ thống hoàn chỉnh từ backend đến giao diện. Hạn chế: mới thử một tài liệu, chưa streaming, chưa có xác thực. Hướng phát triển: streaming, pgvector, mở rộng nhiều tài liệu và sinh slide từ câu trả lời. Mời thầy cô đặt câu hỏi. Slide dự phòng khi bị hỏi: RAPTOR, chi phí và độ trễ, thư viện, xem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D40"/>
        </a:solidFill>
      </p:bgPr>
    </p:bg>
    <p:spTree>
      <p:nvGrpSpPr>
        <p:cNvPr id="1" name=""/>
        <p:cNvGrpSpPr/>
        <p:nvPr/>
      </p:nvGrpSpPr>
      <p:grpSpPr>
        <a:xfrm>
          <a:off x="0" y="0"/>
          <a:ext cx="0" cy="0"/>
          <a:chOff x="0" y="0"/>
          <a:chExt cx="0" cy="0"/>
        </a:xfrm>
      </p:grpSpPr>
      <p:sp>
        <p:nvSpPr>
          <p:cNvPr id="2" name="Text 0"/>
          <p:cNvSpPr txBox="1"/>
          <p:nvPr/>
        </p:nvSpPr>
        <p:spPr>
          <a:xfrm>
            <a:off x="548640" y="502920"/>
            <a:ext cx="804672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HRAG</a:t>
            </a:r>
            <a:endParaRPr lang="en-US" sz="6000" dirty="0"/>
          </a:p>
        </p:txBody>
      </p:sp>
      <p:sp>
        <p:nvSpPr>
          <p:cNvPr id="3" name="Text 1"/>
          <p:cNvSpPr txBox="1"/>
          <p:nvPr/>
        </p:nvSpPr>
        <p:spPr>
          <a:xfrm>
            <a:off x="548640" y="1417320"/>
            <a:ext cx="804672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Hierarchical Agentic RAG: hỏi đáp tài liệu dài có trích dẫn</a:t>
            </a:r>
            <a:endParaRPr lang="en-US" sz="2000" dirty="0"/>
          </a:p>
        </p:txBody>
      </p:sp>
      <p:sp>
        <p:nvSpPr>
          <p:cNvPr id="4" name="Text 2"/>
          <p:cNvSpPr txBox="1"/>
          <p:nvPr/>
        </p:nvSpPr>
        <p:spPr>
          <a:xfrm>
            <a:off x="548640" y="1965960"/>
            <a:ext cx="8046720" cy="365760"/>
          </a:xfrm>
          <a:prstGeom prst="rect">
            <a:avLst/>
          </a:prstGeom>
          <a:noFill/>
          <a:ln/>
        </p:spPr>
        <p:txBody>
          <a:bodyPr wrap="square" lIns="0" tIns="0" rIns="0" bIns="0" rtlCol="0" anchor="ctr"/>
          <a:lstStyle/>
          <a:p>
            <a:pPr indent="0" marL="0">
              <a:buNone/>
            </a:pPr>
            <a:r>
              <a:rPr lang="en-US" sz="1400" dirty="0">
                <a:solidFill>
                  <a:srgbClr val="9FB6C6"/>
                </a:solidFill>
                <a:latin typeface="Calibri" pitchFamily="34" charset="0"/>
                <a:ea typeface="Calibri" pitchFamily="34" charset="-122"/>
                <a:cs typeface="Calibri" pitchFamily="34" charset="-120"/>
              </a:rPr>
              <a:t>Bài tập lớn Python · Khoa CNTT1 · Đinh Tuấn Quang, Nguyễn Duy Long, Lê Anh Tú</a:t>
            </a:r>
            <a:endParaRPr lang="en-US" sz="1400" dirty="0"/>
          </a:p>
        </p:txBody>
      </p:sp>
      <p:sp>
        <p:nvSpPr>
          <p:cNvPr id="5" name="Text 3"/>
          <p:cNvSpPr txBox="1"/>
          <p:nvPr/>
        </p:nvSpPr>
        <p:spPr>
          <a:xfrm>
            <a:off x="548640" y="2743200"/>
            <a:ext cx="8046720" cy="365760"/>
          </a:xfrm>
          <a:prstGeom prst="rect">
            <a:avLst/>
          </a:prstGeom>
          <a:noFill/>
          <a:ln/>
        </p:spPr>
        <p:txBody>
          <a:bodyPr wrap="square" lIns="0" tIns="0" rIns="0" bIns="0" rtlCol="0" anchor="ctr"/>
          <a:lstStyle/>
          <a:p>
            <a:pPr indent="0" marL="0">
              <a:buNone/>
            </a:pPr>
            <a:r>
              <a:rPr lang="en-US" sz="1600" b="1" dirty="0">
                <a:solidFill>
                  <a:srgbClr val="F2A93B"/>
                </a:solidFill>
                <a:latin typeface="Calibri" pitchFamily="34" charset="0"/>
                <a:ea typeface="Calibri" pitchFamily="34" charset="-122"/>
                <a:cs typeface="Calibri" pitchFamily="34" charset="-120"/>
              </a:rPr>
              <a:t>Naive RAG gặp vấn đề gì với giáo trình dài?</a:t>
            </a:r>
            <a:endParaRPr lang="en-US" sz="1600" dirty="0"/>
          </a:p>
        </p:txBody>
      </p:sp>
      <p:sp>
        <p:nvSpPr>
          <p:cNvPr id="6" name="ProblemCard1"/>
          <p:cNvSpPr/>
          <p:nvPr/>
        </p:nvSpPr>
        <p:spPr>
          <a:xfrm>
            <a:off x="548640" y="3200400"/>
            <a:ext cx="2560320" cy="1188720"/>
          </a:xfrm>
          <a:prstGeom prst="roundRect">
            <a:avLst>
              <a:gd name="adj" fmla="val 7692"/>
            </a:avLst>
          </a:prstGeom>
          <a:solidFill>
            <a:srgbClr val="1A4560"/>
          </a:solidFill>
          <a:ln/>
        </p:spPr>
      </p:sp>
      <p:sp>
        <p:nvSpPr>
          <p:cNvPr id="7" name="Text 5"/>
          <p:cNvSpPr txBox="1"/>
          <p:nvPr/>
        </p:nvSpPr>
        <p:spPr>
          <a:xfrm>
            <a:off x="731520" y="3291840"/>
            <a:ext cx="2194560" cy="10058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Cắt đoạn cố định</a:t>
            </a:r>
            <a:endParaRPr lang="en-US" sz="1700" dirty="0"/>
          </a:p>
          <a:p>
            <a:pPr indent="0" marL="0">
              <a:buNone/>
            </a:pPr>
            <a:r>
              <a:rPr lang="en-US" sz="1400" dirty="0">
                <a:solidFill>
                  <a:srgbClr val="CADCFC"/>
                </a:solidFill>
                <a:latin typeface="Calibri" pitchFamily="34" charset="0"/>
                <a:ea typeface="Calibri" pitchFamily="34" charset="-122"/>
                <a:cs typeface="Calibri" pitchFamily="34" charset="-120"/>
              </a:rPr>
              <a:t>Mất cấu trúc chương, mục</a:t>
            </a:r>
            <a:endParaRPr lang="en-US" sz="1700" dirty="0"/>
          </a:p>
        </p:txBody>
      </p:sp>
      <p:sp>
        <p:nvSpPr>
          <p:cNvPr id="8" name="ProblemCard2"/>
          <p:cNvSpPr/>
          <p:nvPr/>
        </p:nvSpPr>
        <p:spPr>
          <a:xfrm>
            <a:off x="3291840" y="3200400"/>
            <a:ext cx="2560320" cy="1188720"/>
          </a:xfrm>
          <a:prstGeom prst="roundRect">
            <a:avLst>
              <a:gd name="adj" fmla="val 7692"/>
            </a:avLst>
          </a:prstGeom>
          <a:solidFill>
            <a:srgbClr val="1A4560"/>
          </a:solidFill>
          <a:ln/>
        </p:spPr>
      </p:sp>
      <p:sp>
        <p:nvSpPr>
          <p:cNvPr id="9" name="Text 7"/>
          <p:cNvSpPr txBox="1"/>
          <p:nvPr/>
        </p:nvSpPr>
        <p:spPr>
          <a:xfrm>
            <a:off x="3474720" y="3291840"/>
            <a:ext cx="2194560" cy="10058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Chỉ tìm một lần</a:t>
            </a:r>
            <a:endParaRPr lang="en-US" sz="1700" dirty="0"/>
          </a:p>
          <a:p>
            <a:pPr indent="0" marL="0">
              <a:buNone/>
            </a:pPr>
            <a:r>
              <a:rPr lang="en-US" sz="1400" dirty="0">
                <a:solidFill>
                  <a:srgbClr val="CADCFC"/>
                </a:solidFill>
                <a:latin typeface="Calibri" pitchFamily="34" charset="0"/>
                <a:ea typeface="Calibri" pitchFamily="34" charset="-122"/>
                <a:cs typeface="Calibri" pitchFamily="34" charset="-120"/>
              </a:rPr>
              <a:t>Không tự kiểm tra kết quả</a:t>
            </a:r>
            <a:endParaRPr lang="en-US" sz="1700" dirty="0"/>
          </a:p>
        </p:txBody>
      </p:sp>
      <p:sp>
        <p:nvSpPr>
          <p:cNvPr id="10" name="ProblemCard3"/>
          <p:cNvSpPr/>
          <p:nvPr/>
        </p:nvSpPr>
        <p:spPr>
          <a:xfrm>
            <a:off x="6035040" y="3200400"/>
            <a:ext cx="2560320" cy="1188720"/>
          </a:xfrm>
          <a:prstGeom prst="roundRect">
            <a:avLst>
              <a:gd name="adj" fmla="val 7692"/>
            </a:avLst>
          </a:prstGeom>
          <a:solidFill>
            <a:srgbClr val="1A4560"/>
          </a:solidFill>
          <a:ln/>
        </p:spPr>
      </p:sp>
      <p:sp>
        <p:nvSpPr>
          <p:cNvPr id="11" name="Text 9"/>
          <p:cNvSpPr txBox="1"/>
          <p:nvPr/>
        </p:nvSpPr>
        <p:spPr>
          <a:xfrm>
            <a:off x="6217920" y="3291840"/>
            <a:ext cx="2194560" cy="10058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Không có trí nhớ</a:t>
            </a:r>
            <a:endParaRPr lang="en-US" sz="1700" dirty="0"/>
          </a:p>
          <a:p>
            <a:pPr indent="0" marL="0">
              <a:buNone/>
            </a:pPr>
            <a:r>
              <a:rPr lang="en-US" sz="1400" dirty="0">
                <a:solidFill>
                  <a:srgbClr val="CADCFC"/>
                </a:solidFill>
                <a:latin typeface="Calibri" pitchFamily="34" charset="0"/>
                <a:ea typeface="Calibri" pitchFamily="34" charset="-122"/>
                <a:cs typeface="Calibri" pitchFamily="34" charset="-120"/>
              </a:rPr>
              <a:t>Câu hỏi nối tiếp bị hiểu sai</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1B2A33"/>
                </a:solidFill>
                <a:latin typeface="Cambria" pitchFamily="34" charset="0"/>
                <a:ea typeface="Cambria" pitchFamily="34" charset="-122"/>
                <a:cs typeface="Cambria" pitchFamily="34" charset="-120"/>
              </a:rPr>
              <a:t>Kiến trúc 4 lớp, dùng chung một tầng dịch vụ</a:t>
            </a:r>
            <a:endParaRPr lang="en-US" sz="2800" dirty="0"/>
          </a:p>
        </p:txBody>
      </p:sp>
      <p:sp>
        <p:nvSpPr>
          <p:cNvPr id="3" name="Layer1"/>
          <p:cNvSpPr/>
          <p:nvPr/>
        </p:nvSpPr>
        <p:spPr>
          <a:xfrm>
            <a:off x="457200" y="1097280"/>
            <a:ext cx="5303520" cy="822960"/>
          </a:xfrm>
          <a:prstGeom prst="roundRect">
            <a:avLst>
              <a:gd name="adj" fmla="val 8889"/>
            </a:avLst>
          </a:prstGeom>
          <a:solidFill>
            <a:srgbClr val="DBE4F0"/>
          </a:solidFill>
          <a:ln/>
        </p:spPr>
      </p:sp>
      <p:sp>
        <p:nvSpPr>
          <p:cNvPr id="4" name="Text 2"/>
          <p:cNvSpPr txBox="1"/>
          <p:nvPr/>
        </p:nvSpPr>
        <p:spPr>
          <a:xfrm>
            <a:off x="548640" y="1097280"/>
            <a:ext cx="1097280" cy="822960"/>
          </a:xfrm>
          <a:prstGeom prst="rect">
            <a:avLst/>
          </a:prstGeom>
          <a:noFill/>
          <a:ln/>
        </p:spPr>
        <p:txBody>
          <a:bodyPr wrap="square" lIns="0" tIns="0" rIns="0" bIns="0" rtlCol="0" anchor="ctr"/>
          <a:lstStyle/>
          <a:p>
            <a:pPr indent="0" marL="0">
              <a:buNone/>
            </a:pPr>
            <a:r>
              <a:rPr lang="en-US" sz="1300" b="1" dirty="0">
                <a:solidFill>
                  <a:srgbClr val="0F2D40"/>
                </a:solidFill>
                <a:latin typeface="Calibri" pitchFamily="34" charset="0"/>
                <a:ea typeface="Calibri" pitchFamily="34" charset="-122"/>
                <a:cs typeface="Calibri" pitchFamily="34" charset="-120"/>
              </a:rPr>
              <a:t>Giao diện</a:t>
            </a:r>
            <a:endParaRPr lang="en-US" sz="1300" dirty="0"/>
          </a:p>
        </p:txBody>
      </p:sp>
      <p:sp>
        <p:nvSpPr>
          <p:cNvPr id="5" name="LayerItem1_1"/>
          <p:cNvSpPr/>
          <p:nvPr/>
        </p:nvSpPr>
        <p:spPr>
          <a:xfrm>
            <a:off x="1737360" y="1207008"/>
            <a:ext cx="1249680" cy="603504"/>
          </a:xfrm>
          <a:prstGeom prst="roundRect">
            <a:avLst>
              <a:gd name="adj" fmla="val 9091"/>
            </a:avLst>
          </a:prstGeom>
          <a:solidFill>
            <a:srgbClr val="FFFFFF"/>
          </a:solidFill>
          <a:ln/>
        </p:spPr>
      </p:sp>
      <p:sp>
        <p:nvSpPr>
          <p:cNvPr id="6" name="Text 4"/>
          <p:cNvSpPr txBox="1"/>
          <p:nvPr/>
        </p:nvSpPr>
        <p:spPr>
          <a:xfrm>
            <a:off x="1737360" y="1207008"/>
            <a:ext cx="1249680" cy="603504"/>
          </a:xfrm>
          <a:prstGeom prst="rect">
            <a:avLst/>
          </a:prstGeom>
          <a:noFill/>
          <a:ln/>
        </p:spPr>
        <p:txBody>
          <a:bodyPr wrap="square" lIns="38100" tIns="38100" rIns="38100" bIns="3810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Streamlit UI</a:t>
            </a:r>
            <a:endParaRPr lang="en-US" sz="1200" dirty="0"/>
          </a:p>
        </p:txBody>
      </p:sp>
      <p:sp>
        <p:nvSpPr>
          <p:cNvPr id="7" name="LayerItem1_2"/>
          <p:cNvSpPr/>
          <p:nvPr/>
        </p:nvSpPr>
        <p:spPr>
          <a:xfrm>
            <a:off x="3078480" y="1207008"/>
            <a:ext cx="1249680" cy="603504"/>
          </a:xfrm>
          <a:prstGeom prst="roundRect">
            <a:avLst>
              <a:gd name="adj" fmla="val 9091"/>
            </a:avLst>
          </a:prstGeom>
          <a:solidFill>
            <a:srgbClr val="FFFFFF"/>
          </a:solidFill>
          <a:ln/>
        </p:spPr>
      </p:sp>
      <p:sp>
        <p:nvSpPr>
          <p:cNvPr id="8" name="Text 6"/>
          <p:cNvSpPr txBox="1"/>
          <p:nvPr/>
        </p:nvSpPr>
        <p:spPr>
          <a:xfrm>
            <a:off x="3078480" y="1207008"/>
            <a:ext cx="1249680" cy="603504"/>
          </a:xfrm>
          <a:prstGeom prst="rect">
            <a:avLst/>
          </a:prstGeom>
          <a:noFill/>
          <a:ln/>
        </p:spPr>
        <p:txBody>
          <a:bodyPr wrap="square" lIns="38100" tIns="38100" rIns="38100" bIns="3810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Dashboard Gradio</a:t>
            </a:r>
            <a:endParaRPr lang="en-US" sz="1200" dirty="0"/>
          </a:p>
        </p:txBody>
      </p:sp>
      <p:sp>
        <p:nvSpPr>
          <p:cNvPr id="9" name="LayerItem1_3"/>
          <p:cNvSpPr/>
          <p:nvPr/>
        </p:nvSpPr>
        <p:spPr>
          <a:xfrm>
            <a:off x="4419600" y="1207008"/>
            <a:ext cx="1249680" cy="603504"/>
          </a:xfrm>
          <a:prstGeom prst="roundRect">
            <a:avLst>
              <a:gd name="adj" fmla="val 9091"/>
            </a:avLst>
          </a:prstGeom>
          <a:solidFill>
            <a:srgbClr val="FFFFFF"/>
          </a:solidFill>
          <a:ln/>
        </p:spPr>
      </p:sp>
      <p:sp>
        <p:nvSpPr>
          <p:cNvPr id="10" name="Text 8"/>
          <p:cNvSpPr txBox="1"/>
          <p:nvPr/>
        </p:nvSpPr>
        <p:spPr>
          <a:xfrm>
            <a:off x="4419600" y="1207008"/>
            <a:ext cx="1249680" cy="603504"/>
          </a:xfrm>
          <a:prstGeom prst="rect">
            <a:avLst/>
          </a:prstGeom>
          <a:noFill/>
          <a:ln/>
        </p:spPr>
        <p:txBody>
          <a:bodyPr wrap="square" lIns="38100" tIns="38100" rIns="38100" bIns="3810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Dòng lệnh</a:t>
            </a:r>
            <a:endParaRPr lang="en-US" sz="1200" dirty="0"/>
          </a:p>
        </p:txBody>
      </p:sp>
      <p:sp>
        <p:nvSpPr>
          <p:cNvPr id="11" name="Layer2"/>
          <p:cNvSpPr/>
          <p:nvPr/>
        </p:nvSpPr>
        <p:spPr>
          <a:xfrm>
            <a:off x="457200" y="2057400"/>
            <a:ext cx="5303520" cy="822960"/>
          </a:xfrm>
          <a:prstGeom prst="roundRect">
            <a:avLst>
              <a:gd name="adj" fmla="val 8889"/>
            </a:avLst>
          </a:prstGeom>
          <a:solidFill>
            <a:srgbClr val="E3EFE0"/>
          </a:solidFill>
          <a:ln/>
        </p:spPr>
      </p:sp>
      <p:sp>
        <p:nvSpPr>
          <p:cNvPr id="12" name="Text 10"/>
          <p:cNvSpPr txBox="1"/>
          <p:nvPr/>
        </p:nvSpPr>
        <p:spPr>
          <a:xfrm>
            <a:off x="548640" y="2057400"/>
            <a:ext cx="1097280" cy="822960"/>
          </a:xfrm>
          <a:prstGeom prst="rect">
            <a:avLst/>
          </a:prstGeom>
          <a:noFill/>
          <a:ln/>
        </p:spPr>
        <p:txBody>
          <a:bodyPr wrap="square" lIns="0" tIns="0" rIns="0" bIns="0" rtlCol="0" anchor="ctr"/>
          <a:lstStyle/>
          <a:p>
            <a:pPr indent="0" marL="0">
              <a:buNone/>
            </a:pPr>
            <a:r>
              <a:rPr lang="en-US" sz="1300" b="1" dirty="0">
                <a:solidFill>
                  <a:srgbClr val="0F2D40"/>
                </a:solidFill>
                <a:latin typeface="Calibri" pitchFamily="34" charset="0"/>
                <a:ea typeface="Calibri" pitchFamily="34" charset="-122"/>
                <a:cs typeface="Calibri" pitchFamily="34" charset="-120"/>
              </a:rPr>
              <a:t>Backend</a:t>
            </a:r>
            <a:endParaRPr lang="en-US" sz="1300" dirty="0"/>
          </a:p>
        </p:txBody>
      </p:sp>
      <p:sp>
        <p:nvSpPr>
          <p:cNvPr id="13" name="LayerItem2_1"/>
          <p:cNvSpPr/>
          <p:nvPr/>
        </p:nvSpPr>
        <p:spPr>
          <a:xfrm>
            <a:off x="1737360" y="2167128"/>
            <a:ext cx="3931920" cy="603504"/>
          </a:xfrm>
          <a:prstGeom prst="roundRect">
            <a:avLst>
              <a:gd name="adj" fmla="val 9091"/>
            </a:avLst>
          </a:prstGeom>
          <a:solidFill>
            <a:srgbClr val="FFFFFF"/>
          </a:solidFill>
          <a:ln/>
        </p:spPr>
      </p:sp>
      <p:sp>
        <p:nvSpPr>
          <p:cNvPr id="14" name="Text 12"/>
          <p:cNvSpPr txBox="1"/>
          <p:nvPr/>
        </p:nvSpPr>
        <p:spPr>
          <a:xfrm>
            <a:off x="1737360" y="2167128"/>
            <a:ext cx="3931920" cy="603504"/>
          </a:xfrm>
          <a:prstGeom prst="rect">
            <a:avLst/>
          </a:prstGeom>
          <a:noFill/>
          <a:ln/>
        </p:spPr>
        <p:txBody>
          <a:bodyPr wrap="square" lIns="38100" tIns="38100" rIns="38100" bIns="3810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Tầng services: hỏi đáp, lập chỉ mục, job, cache cây</a:t>
            </a:r>
            <a:endParaRPr lang="en-US" sz="1200" dirty="0"/>
          </a:p>
        </p:txBody>
      </p:sp>
      <p:sp>
        <p:nvSpPr>
          <p:cNvPr id="15" name="Layer3"/>
          <p:cNvSpPr/>
          <p:nvPr/>
        </p:nvSpPr>
        <p:spPr>
          <a:xfrm>
            <a:off x="457200" y="3017520"/>
            <a:ext cx="5303520" cy="822960"/>
          </a:xfrm>
          <a:prstGeom prst="roundRect">
            <a:avLst>
              <a:gd name="adj" fmla="val 8889"/>
            </a:avLst>
          </a:prstGeom>
          <a:solidFill>
            <a:srgbClr val="FBEFD5"/>
          </a:solidFill>
          <a:ln/>
        </p:spPr>
      </p:sp>
      <p:sp>
        <p:nvSpPr>
          <p:cNvPr id="16" name="Text 14"/>
          <p:cNvSpPr txBox="1"/>
          <p:nvPr/>
        </p:nvSpPr>
        <p:spPr>
          <a:xfrm>
            <a:off x="548640" y="3017520"/>
            <a:ext cx="1097280" cy="822960"/>
          </a:xfrm>
          <a:prstGeom prst="rect">
            <a:avLst/>
          </a:prstGeom>
          <a:noFill/>
          <a:ln/>
        </p:spPr>
        <p:txBody>
          <a:bodyPr wrap="square" lIns="0" tIns="0" rIns="0" bIns="0" rtlCol="0" anchor="ctr"/>
          <a:lstStyle/>
          <a:p>
            <a:pPr indent="0" marL="0">
              <a:buNone/>
            </a:pPr>
            <a:r>
              <a:rPr lang="en-US" sz="1300" b="1" dirty="0">
                <a:solidFill>
                  <a:srgbClr val="0F2D40"/>
                </a:solidFill>
                <a:latin typeface="Calibri" pitchFamily="34" charset="0"/>
                <a:ea typeface="Calibri" pitchFamily="34" charset="-122"/>
                <a:cs typeface="Calibri" pitchFamily="34" charset="-120"/>
              </a:rPr>
              <a:t>Lõi RAG</a:t>
            </a:r>
            <a:endParaRPr lang="en-US" sz="1300" dirty="0"/>
          </a:p>
        </p:txBody>
      </p:sp>
      <p:sp>
        <p:nvSpPr>
          <p:cNvPr id="17" name="LayerItem3_1"/>
          <p:cNvSpPr/>
          <p:nvPr/>
        </p:nvSpPr>
        <p:spPr>
          <a:xfrm>
            <a:off x="1737360" y="3127248"/>
            <a:ext cx="1249680" cy="603504"/>
          </a:xfrm>
          <a:prstGeom prst="roundRect">
            <a:avLst>
              <a:gd name="adj" fmla="val 9091"/>
            </a:avLst>
          </a:prstGeom>
          <a:solidFill>
            <a:srgbClr val="FFFFFF"/>
          </a:solidFill>
          <a:ln/>
        </p:spPr>
      </p:sp>
      <p:sp>
        <p:nvSpPr>
          <p:cNvPr id="18" name="Text 16"/>
          <p:cNvSpPr txBox="1"/>
          <p:nvPr/>
        </p:nvSpPr>
        <p:spPr>
          <a:xfrm>
            <a:off x="1737360" y="3127248"/>
            <a:ext cx="1249680" cy="603504"/>
          </a:xfrm>
          <a:prstGeom prst="rect">
            <a:avLst/>
          </a:prstGeom>
          <a:noFill/>
          <a:ln/>
        </p:spPr>
        <p:txBody>
          <a:bodyPr wrap="square" lIns="38100" tIns="38100" rIns="38100" bIns="3810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Agent LangGraph</a:t>
            </a:r>
            <a:endParaRPr lang="en-US" sz="1200" dirty="0"/>
          </a:p>
        </p:txBody>
      </p:sp>
      <p:sp>
        <p:nvSpPr>
          <p:cNvPr id="19" name="LayerItem3_2"/>
          <p:cNvSpPr/>
          <p:nvPr/>
        </p:nvSpPr>
        <p:spPr>
          <a:xfrm>
            <a:off x="3078480" y="3127248"/>
            <a:ext cx="1249680" cy="603504"/>
          </a:xfrm>
          <a:prstGeom prst="roundRect">
            <a:avLst>
              <a:gd name="adj" fmla="val 9091"/>
            </a:avLst>
          </a:prstGeom>
          <a:solidFill>
            <a:srgbClr val="FFFFFF"/>
          </a:solidFill>
          <a:ln/>
        </p:spPr>
      </p:sp>
      <p:sp>
        <p:nvSpPr>
          <p:cNvPr id="20" name="Text 18"/>
          <p:cNvSpPr txBox="1"/>
          <p:nvPr/>
        </p:nvSpPr>
        <p:spPr>
          <a:xfrm>
            <a:off x="3078480" y="3127248"/>
            <a:ext cx="1249680" cy="603504"/>
          </a:xfrm>
          <a:prstGeom prst="rect">
            <a:avLst/>
          </a:prstGeom>
          <a:noFill/>
          <a:ln/>
        </p:spPr>
        <p:txBody>
          <a:bodyPr wrap="square" lIns="38100" tIns="38100" rIns="38100" bIns="3810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Cây chỉ mục</a:t>
            </a:r>
            <a:endParaRPr lang="en-US" sz="1200" dirty="0"/>
          </a:p>
        </p:txBody>
      </p:sp>
      <p:sp>
        <p:nvSpPr>
          <p:cNvPr id="21" name="LayerItem3_3"/>
          <p:cNvSpPr/>
          <p:nvPr/>
        </p:nvSpPr>
        <p:spPr>
          <a:xfrm>
            <a:off x="4419600" y="3127248"/>
            <a:ext cx="1249680" cy="603504"/>
          </a:xfrm>
          <a:prstGeom prst="roundRect">
            <a:avLst>
              <a:gd name="adj" fmla="val 9091"/>
            </a:avLst>
          </a:prstGeom>
          <a:solidFill>
            <a:srgbClr val="FFFFFF"/>
          </a:solidFill>
          <a:ln/>
        </p:spPr>
      </p:sp>
      <p:sp>
        <p:nvSpPr>
          <p:cNvPr id="22" name="Text 20"/>
          <p:cNvSpPr txBox="1"/>
          <p:nvPr/>
        </p:nvSpPr>
        <p:spPr>
          <a:xfrm>
            <a:off x="4419600" y="3127248"/>
            <a:ext cx="1249680" cy="603504"/>
          </a:xfrm>
          <a:prstGeom prst="rect">
            <a:avLst/>
          </a:prstGeom>
          <a:noFill/>
          <a:ln/>
        </p:spPr>
        <p:txBody>
          <a:bodyPr wrap="square" lIns="38100" tIns="38100" rIns="38100" bIns="3810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Bộ nhớ hội thoại</a:t>
            </a:r>
            <a:endParaRPr lang="en-US" sz="1200" dirty="0"/>
          </a:p>
        </p:txBody>
      </p:sp>
      <p:sp>
        <p:nvSpPr>
          <p:cNvPr id="23" name="Layer4"/>
          <p:cNvSpPr/>
          <p:nvPr/>
        </p:nvSpPr>
        <p:spPr>
          <a:xfrm>
            <a:off x="457200" y="3977640"/>
            <a:ext cx="5303520" cy="822960"/>
          </a:xfrm>
          <a:prstGeom prst="roundRect">
            <a:avLst>
              <a:gd name="adj" fmla="val 8889"/>
            </a:avLst>
          </a:prstGeom>
          <a:solidFill>
            <a:srgbClr val="EDE3F2"/>
          </a:solidFill>
          <a:ln/>
        </p:spPr>
      </p:sp>
      <p:sp>
        <p:nvSpPr>
          <p:cNvPr id="24" name="Text 22"/>
          <p:cNvSpPr txBox="1"/>
          <p:nvPr/>
        </p:nvSpPr>
        <p:spPr>
          <a:xfrm>
            <a:off x="548640" y="3977640"/>
            <a:ext cx="1097280" cy="822960"/>
          </a:xfrm>
          <a:prstGeom prst="rect">
            <a:avLst/>
          </a:prstGeom>
          <a:noFill/>
          <a:ln/>
        </p:spPr>
        <p:txBody>
          <a:bodyPr wrap="square" lIns="0" tIns="0" rIns="0" bIns="0" rtlCol="0" anchor="ctr"/>
          <a:lstStyle/>
          <a:p>
            <a:pPr indent="0" marL="0">
              <a:buNone/>
            </a:pPr>
            <a:r>
              <a:rPr lang="en-US" sz="1300" b="1" dirty="0">
                <a:solidFill>
                  <a:srgbClr val="0F2D40"/>
                </a:solidFill>
                <a:latin typeface="Calibri" pitchFamily="34" charset="0"/>
                <a:ea typeface="Calibri" pitchFamily="34" charset="-122"/>
                <a:cs typeface="Calibri" pitchFamily="34" charset="-120"/>
              </a:rPr>
              <a:t>Lưu trữ và mô hình</a:t>
            </a:r>
            <a:endParaRPr lang="en-US" sz="1300" dirty="0"/>
          </a:p>
        </p:txBody>
      </p:sp>
      <p:sp>
        <p:nvSpPr>
          <p:cNvPr id="25" name="LayerItem4_1"/>
          <p:cNvSpPr/>
          <p:nvPr/>
        </p:nvSpPr>
        <p:spPr>
          <a:xfrm>
            <a:off x="1737360" y="4087368"/>
            <a:ext cx="1249680" cy="603504"/>
          </a:xfrm>
          <a:prstGeom prst="roundRect">
            <a:avLst>
              <a:gd name="adj" fmla="val 9091"/>
            </a:avLst>
          </a:prstGeom>
          <a:solidFill>
            <a:srgbClr val="FFFFFF"/>
          </a:solidFill>
          <a:ln/>
        </p:spPr>
      </p:sp>
      <p:sp>
        <p:nvSpPr>
          <p:cNvPr id="26" name="Text 24"/>
          <p:cNvSpPr txBox="1"/>
          <p:nvPr/>
        </p:nvSpPr>
        <p:spPr>
          <a:xfrm>
            <a:off x="1737360" y="4087368"/>
            <a:ext cx="1249680" cy="603504"/>
          </a:xfrm>
          <a:prstGeom prst="rect">
            <a:avLst/>
          </a:prstGeom>
          <a:noFill/>
          <a:ln/>
        </p:spPr>
        <p:txBody>
          <a:bodyPr wrap="square" lIns="38100" tIns="38100" rIns="38100" bIns="3810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PostgreSQL, file</a:t>
            </a:r>
            <a:endParaRPr lang="en-US" sz="1200" dirty="0"/>
          </a:p>
        </p:txBody>
      </p:sp>
      <p:sp>
        <p:nvSpPr>
          <p:cNvPr id="27" name="LayerItem4_2"/>
          <p:cNvSpPr/>
          <p:nvPr/>
        </p:nvSpPr>
        <p:spPr>
          <a:xfrm>
            <a:off x="3078480" y="4087368"/>
            <a:ext cx="1249680" cy="603504"/>
          </a:xfrm>
          <a:prstGeom prst="roundRect">
            <a:avLst>
              <a:gd name="adj" fmla="val 9091"/>
            </a:avLst>
          </a:prstGeom>
          <a:solidFill>
            <a:srgbClr val="FFFFFF"/>
          </a:solidFill>
          <a:ln/>
        </p:spPr>
      </p:sp>
      <p:sp>
        <p:nvSpPr>
          <p:cNvPr id="28" name="Text 26"/>
          <p:cNvSpPr txBox="1"/>
          <p:nvPr/>
        </p:nvSpPr>
        <p:spPr>
          <a:xfrm>
            <a:off x="3078480" y="4087368"/>
            <a:ext cx="1249680" cy="603504"/>
          </a:xfrm>
          <a:prstGeom prst="rect">
            <a:avLst/>
          </a:prstGeom>
          <a:noFill/>
          <a:ln/>
        </p:spPr>
        <p:txBody>
          <a:bodyPr wrap="square" lIns="38100" tIns="38100" rIns="38100" bIns="3810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Gemini, LLM tự host</a:t>
            </a:r>
            <a:endParaRPr lang="en-US" sz="1200" dirty="0"/>
          </a:p>
        </p:txBody>
      </p:sp>
      <p:sp>
        <p:nvSpPr>
          <p:cNvPr id="29" name="LayerItem4_3"/>
          <p:cNvSpPr/>
          <p:nvPr/>
        </p:nvSpPr>
        <p:spPr>
          <a:xfrm>
            <a:off x="4419600" y="4087368"/>
            <a:ext cx="1249680" cy="603504"/>
          </a:xfrm>
          <a:prstGeom prst="roundRect">
            <a:avLst>
              <a:gd name="adj" fmla="val 9091"/>
            </a:avLst>
          </a:prstGeom>
          <a:solidFill>
            <a:srgbClr val="FFFFFF"/>
          </a:solidFill>
          <a:ln/>
        </p:spPr>
      </p:sp>
      <p:sp>
        <p:nvSpPr>
          <p:cNvPr id="30" name="Text 28"/>
          <p:cNvSpPr txBox="1"/>
          <p:nvPr/>
        </p:nvSpPr>
        <p:spPr>
          <a:xfrm>
            <a:off x="4419600" y="4087368"/>
            <a:ext cx="1249680" cy="603504"/>
          </a:xfrm>
          <a:prstGeom prst="rect">
            <a:avLst/>
          </a:prstGeom>
          <a:noFill/>
          <a:ln/>
        </p:spPr>
        <p:txBody>
          <a:bodyPr wrap="square" lIns="38100" tIns="38100" rIns="38100" bIns="38100" rtlCol="0" anchor="ctr"/>
          <a:lstStyle/>
          <a:p>
            <a:pPr algn="ctr" indent="0" marL="0">
              <a:buNone/>
            </a:pPr>
            <a:r>
              <a:rPr lang="en-US" sz="1200" dirty="0">
                <a:solidFill>
                  <a:srgbClr val="1B2A33"/>
                </a:solidFill>
                <a:latin typeface="Calibri" pitchFamily="34" charset="0"/>
                <a:ea typeface="Calibri" pitchFamily="34" charset="-122"/>
                <a:cs typeface="Calibri" pitchFamily="34" charset="-120"/>
              </a:rPr>
              <a:t>Embedding bge-m3</a:t>
            </a:r>
            <a:endParaRPr lang="en-US" sz="1200" dirty="0"/>
          </a:p>
        </p:txBody>
      </p:sp>
      <p:sp>
        <p:nvSpPr>
          <p:cNvPr id="31" name="MemberCard1"/>
          <p:cNvSpPr/>
          <p:nvPr/>
        </p:nvSpPr>
        <p:spPr>
          <a:xfrm>
            <a:off x="5943600" y="1188720"/>
            <a:ext cx="2743200" cy="1005840"/>
          </a:xfrm>
          <a:prstGeom prst="roundRect">
            <a:avLst>
              <a:gd name="adj" fmla="val 9091"/>
            </a:avLst>
          </a:prstGeom>
          <a:solidFill>
            <a:srgbClr val="F3F6F8"/>
          </a:solidFill>
          <a:ln/>
          <a:effectLst>
            <a:outerShdw sx="100000" sy="100000" kx="0" ky="0" algn="bl" rotWithShape="0" blurRad="76200" dist="25400" dir="5400000">
              <a:srgbClr val="000000">
                <a:alpha val="12000"/>
              </a:srgbClr>
            </a:outerShdw>
          </a:effectLst>
        </p:spPr>
      </p:sp>
      <p:sp>
        <p:nvSpPr>
          <p:cNvPr id="32" name="Text 30"/>
          <p:cNvSpPr txBox="1"/>
          <p:nvPr/>
        </p:nvSpPr>
        <p:spPr>
          <a:xfrm>
            <a:off x="6126480" y="1280160"/>
            <a:ext cx="2468880" cy="822960"/>
          </a:xfrm>
          <a:prstGeom prst="rect">
            <a:avLst/>
          </a:prstGeom>
          <a:noFill/>
          <a:ln/>
        </p:spPr>
        <p:txBody>
          <a:bodyPr wrap="square" lIns="0" tIns="0" rIns="0" bIns="0" rtlCol="0" anchor="ctr"/>
          <a:lstStyle/>
          <a:p>
            <a:pPr indent="0" marL="0">
              <a:buNone/>
            </a:pPr>
            <a:r>
              <a:rPr lang="en-US" sz="1600" b="1" dirty="0">
                <a:solidFill>
                  <a:srgbClr val="0F2D40"/>
                </a:solidFill>
                <a:latin typeface="Calibri" pitchFamily="34" charset="0"/>
                <a:ea typeface="Calibri" pitchFamily="34" charset="-122"/>
                <a:cs typeface="Calibri" pitchFamily="34" charset="-120"/>
              </a:rPr>
              <a:t>Đinh Tuấn Quang</a:t>
            </a:r>
            <a:endParaRPr lang="en-US" sz="1600" dirty="0"/>
          </a:p>
          <a:p>
            <a:pPr indent="0" marL="0">
              <a:buNone/>
            </a:pPr>
            <a:r>
              <a:rPr lang="en-US" sz="1400" dirty="0">
                <a:solidFill>
                  <a:srgbClr val="5B6B75"/>
                </a:solidFill>
                <a:latin typeface="Calibri" pitchFamily="34" charset="0"/>
                <a:ea typeface="Calibri" pitchFamily="34" charset="-122"/>
                <a:cs typeface="Calibri" pitchFamily="34" charset="-120"/>
              </a:rPr>
              <a:t>Agent, truy hồi, đánh giá</a:t>
            </a:r>
            <a:endParaRPr lang="en-US" sz="1600" dirty="0"/>
          </a:p>
        </p:txBody>
      </p:sp>
      <p:sp>
        <p:nvSpPr>
          <p:cNvPr id="33" name="MemberCard2"/>
          <p:cNvSpPr/>
          <p:nvPr/>
        </p:nvSpPr>
        <p:spPr>
          <a:xfrm>
            <a:off x="5943600" y="2377440"/>
            <a:ext cx="2743200" cy="1005840"/>
          </a:xfrm>
          <a:prstGeom prst="roundRect">
            <a:avLst>
              <a:gd name="adj" fmla="val 9091"/>
            </a:avLst>
          </a:prstGeom>
          <a:solidFill>
            <a:srgbClr val="F3F6F8"/>
          </a:solidFill>
          <a:ln/>
          <a:effectLst>
            <a:outerShdw sx="100000" sy="100000" kx="0" ky="0" algn="bl" rotWithShape="0" blurRad="76200" dist="25400" dir="5400000">
              <a:srgbClr val="000000">
                <a:alpha val="12000"/>
              </a:srgbClr>
            </a:outerShdw>
          </a:effectLst>
        </p:spPr>
      </p:sp>
      <p:sp>
        <p:nvSpPr>
          <p:cNvPr id="34" name="Text 32"/>
          <p:cNvSpPr txBox="1"/>
          <p:nvPr/>
        </p:nvSpPr>
        <p:spPr>
          <a:xfrm>
            <a:off x="6126480" y="2468880"/>
            <a:ext cx="2468880" cy="822960"/>
          </a:xfrm>
          <a:prstGeom prst="rect">
            <a:avLst/>
          </a:prstGeom>
          <a:noFill/>
          <a:ln/>
        </p:spPr>
        <p:txBody>
          <a:bodyPr wrap="square" lIns="0" tIns="0" rIns="0" bIns="0" rtlCol="0" anchor="ctr"/>
          <a:lstStyle/>
          <a:p>
            <a:pPr indent="0" marL="0">
              <a:buNone/>
            </a:pPr>
            <a:r>
              <a:rPr lang="en-US" sz="1600" b="1" dirty="0">
                <a:solidFill>
                  <a:srgbClr val="0F2D40"/>
                </a:solidFill>
                <a:latin typeface="Calibri" pitchFamily="34" charset="0"/>
                <a:ea typeface="Calibri" pitchFamily="34" charset="-122"/>
                <a:cs typeface="Calibri" pitchFamily="34" charset="-120"/>
              </a:rPr>
              <a:t>Nguyễn Duy Long</a:t>
            </a:r>
            <a:endParaRPr lang="en-US" sz="1600" dirty="0"/>
          </a:p>
          <a:p>
            <a:pPr indent="0" marL="0">
              <a:buNone/>
            </a:pPr>
            <a:r>
              <a:rPr lang="en-US" sz="1400" dirty="0">
                <a:solidFill>
                  <a:srgbClr val="5B6B75"/>
                </a:solidFill>
                <a:latin typeface="Calibri" pitchFamily="34" charset="0"/>
                <a:ea typeface="Calibri" pitchFamily="34" charset="-122"/>
                <a:cs typeface="Calibri" pitchFamily="34" charset="-120"/>
              </a:rPr>
              <a:t>Backend, cơ sở dữ liệu, bộ nhớ</a:t>
            </a:r>
            <a:endParaRPr lang="en-US" sz="1600" dirty="0"/>
          </a:p>
        </p:txBody>
      </p:sp>
      <p:sp>
        <p:nvSpPr>
          <p:cNvPr id="35" name="MemberCard3"/>
          <p:cNvSpPr/>
          <p:nvPr/>
        </p:nvSpPr>
        <p:spPr>
          <a:xfrm>
            <a:off x="5943600" y="3566160"/>
            <a:ext cx="2743200" cy="1005840"/>
          </a:xfrm>
          <a:prstGeom prst="roundRect">
            <a:avLst>
              <a:gd name="adj" fmla="val 9091"/>
            </a:avLst>
          </a:prstGeom>
          <a:solidFill>
            <a:srgbClr val="F3F6F8"/>
          </a:solidFill>
          <a:ln/>
          <a:effectLst>
            <a:outerShdw sx="100000" sy="100000" kx="0" ky="0" algn="bl" rotWithShape="0" blurRad="76200" dist="25400" dir="5400000">
              <a:srgbClr val="000000">
                <a:alpha val="12000"/>
              </a:srgbClr>
            </a:outerShdw>
          </a:effectLst>
        </p:spPr>
      </p:sp>
      <p:sp>
        <p:nvSpPr>
          <p:cNvPr id="36" name="Text 34"/>
          <p:cNvSpPr txBox="1"/>
          <p:nvPr/>
        </p:nvSpPr>
        <p:spPr>
          <a:xfrm>
            <a:off x="6126480" y="3657600"/>
            <a:ext cx="2468880" cy="822960"/>
          </a:xfrm>
          <a:prstGeom prst="rect">
            <a:avLst/>
          </a:prstGeom>
          <a:noFill/>
          <a:ln/>
        </p:spPr>
        <p:txBody>
          <a:bodyPr wrap="square" lIns="0" tIns="0" rIns="0" bIns="0" rtlCol="0" anchor="ctr"/>
          <a:lstStyle/>
          <a:p>
            <a:pPr indent="0" marL="0">
              <a:buNone/>
            </a:pPr>
            <a:r>
              <a:rPr lang="en-US" sz="1600" b="1" dirty="0">
                <a:solidFill>
                  <a:srgbClr val="0F2D40"/>
                </a:solidFill>
                <a:latin typeface="Calibri" pitchFamily="34" charset="0"/>
                <a:ea typeface="Calibri" pitchFamily="34" charset="-122"/>
                <a:cs typeface="Calibri" pitchFamily="34" charset="-120"/>
              </a:rPr>
              <a:t>Lê Anh Tú</a:t>
            </a:r>
            <a:endParaRPr lang="en-US" sz="1600" dirty="0"/>
          </a:p>
          <a:p>
            <a:pPr indent="0" marL="0">
              <a:buNone/>
            </a:pPr>
            <a:r>
              <a:rPr lang="en-US" sz="1400" dirty="0">
                <a:solidFill>
                  <a:srgbClr val="5B6B75"/>
                </a:solidFill>
                <a:latin typeface="Calibri" pitchFamily="34" charset="0"/>
                <a:ea typeface="Calibri" pitchFamily="34" charset="-122"/>
                <a:cs typeface="Calibri" pitchFamily="34" charset="-120"/>
              </a:rPr>
              <a:t>Giao diện Streamlit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1B2A33"/>
                </a:solidFill>
                <a:latin typeface="Cambria" pitchFamily="34" charset="0"/>
                <a:ea typeface="Cambria" pitchFamily="34" charset="-122"/>
                <a:cs typeface="Cambria" pitchFamily="34" charset="-120"/>
              </a:rPr>
              <a:t>Chỉ mục cây theo heading, không cắt đoạn</a:t>
            </a:r>
            <a:endParaRPr lang="en-US" sz="2800" dirty="0"/>
          </a:p>
        </p:txBody>
      </p:sp>
      <p:pic>
        <p:nvPicPr>
          <p:cNvPr id="3" name="Cấu trúc cây chỉ mục" descr="Cấu trúc cây chỉ mục">    </p:cNvPr>
          <p:cNvPicPr>
            <a:picLocks noChangeAspect="1"/>
          </p:cNvPicPr>
          <p:nvPr/>
        </p:nvPicPr>
        <p:blipFill>
          <a:blip r:embed="rId1"/>
          <a:stretch>
            <a:fillRect/>
          </a:stretch>
        </p:blipFill>
        <p:spPr>
          <a:xfrm>
            <a:off x="457200" y="1098825"/>
            <a:ext cx="3566160" cy="3654511"/>
          </a:xfrm>
          <a:prstGeom prst="rect">
            <a:avLst/>
          </a:prstGeom>
        </p:spPr>
      </p:pic>
      <p:sp>
        <p:nvSpPr>
          <p:cNvPr id="4" name="StatTile1"/>
          <p:cNvSpPr/>
          <p:nvPr/>
        </p:nvSpPr>
        <p:spPr>
          <a:xfrm>
            <a:off x="4389120" y="1188720"/>
            <a:ext cx="1371600" cy="1097280"/>
          </a:xfrm>
          <a:prstGeom prst="roundRect">
            <a:avLst>
              <a:gd name="adj" fmla="val 8333"/>
            </a:avLst>
          </a:prstGeom>
          <a:solidFill>
            <a:srgbClr val="0F2D40"/>
          </a:solidFill>
          <a:ln/>
        </p:spPr>
      </p:sp>
      <p:sp>
        <p:nvSpPr>
          <p:cNvPr id="5" name="Text 2"/>
          <p:cNvSpPr txBox="1"/>
          <p:nvPr/>
        </p:nvSpPr>
        <p:spPr>
          <a:xfrm>
            <a:off x="4389120" y="1188720"/>
            <a:ext cx="1371600" cy="1097280"/>
          </a:xfrm>
          <a:prstGeom prst="rect">
            <a:avLst/>
          </a:prstGeom>
          <a:noFill/>
          <a:ln/>
        </p:spPr>
        <p:txBody>
          <a:bodyPr wrap="square" lIns="0" tIns="0" rIns="0" bIns="0" rtlCol="0" anchor="ctr"/>
          <a:lstStyle/>
          <a:p>
            <a:pPr algn="ctr" indent="0" marL="0">
              <a:buNone/>
            </a:pPr>
            <a:r>
              <a:rPr lang="en-US" sz="3200" b="1" dirty="0">
                <a:solidFill>
                  <a:srgbClr val="F2A93B"/>
                </a:solidFill>
                <a:latin typeface="Cambria" pitchFamily="34" charset="0"/>
                <a:ea typeface="Cambria" pitchFamily="34" charset="-122"/>
                <a:cs typeface="Cambria" pitchFamily="34" charset="-120"/>
              </a:rPr>
              <a:t>320</a:t>
            </a:r>
            <a:endParaRPr lang="en-US" sz="3200" dirty="0"/>
          </a:p>
          <a:p>
            <a:pPr algn="ctr" indent="0" marL="0">
              <a:buNone/>
            </a:pPr>
            <a:r>
              <a:rPr lang="en-US" sz="1300" dirty="0">
                <a:solidFill>
                  <a:srgbClr val="FFFFFF"/>
                </a:solidFill>
                <a:latin typeface="Calibri" pitchFamily="34" charset="0"/>
                <a:ea typeface="Calibri" pitchFamily="34" charset="-122"/>
                <a:cs typeface="Calibri" pitchFamily="34" charset="-120"/>
              </a:rPr>
              <a:t>nút</a:t>
            </a:r>
            <a:endParaRPr lang="en-US" sz="3200" dirty="0"/>
          </a:p>
        </p:txBody>
      </p:sp>
      <p:sp>
        <p:nvSpPr>
          <p:cNvPr id="6" name="StatTile2"/>
          <p:cNvSpPr/>
          <p:nvPr/>
        </p:nvSpPr>
        <p:spPr>
          <a:xfrm>
            <a:off x="5852160" y="1188720"/>
            <a:ext cx="1371600" cy="1097280"/>
          </a:xfrm>
          <a:prstGeom prst="roundRect">
            <a:avLst>
              <a:gd name="adj" fmla="val 8333"/>
            </a:avLst>
          </a:prstGeom>
          <a:solidFill>
            <a:srgbClr val="0F2D40"/>
          </a:solidFill>
          <a:ln/>
        </p:spPr>
      </p:sp>
      <p:sp>
        <p:nvSpPr>
          <p:cNvPr id="7" name="Text 4"/>
          <p:cNvSpPr txBox="1"/>
          <p:nvPr/>
        </p:nvSpPr>
        <p:spPr>
          <a:xfrm>
            <a:off x="5852160" y="1188720"/>
            <a:ext cx="1371600" cy="1097280"/>
          </a:xfrm>
          <a:prstGeom prst="rect">
            <a:avLst/>
          </a:prstGeom>
          <a:noFill/>
          <a:ln/>
        </p:spPr>
        <p:txBody>
          <a:bodyPr wrap="square" lIns="0" tIns="0" rIns="0" bIns="0" rtlCol="0" anchor="ctr"/>
          <a:lstStyle/>
          <a:p>
            <a:pPr algn="ctr" indent="0" marL="0">
              <a:buNone/>
            </a:pPr>
            <a:r>
              <a:rPr lang="en-US" sz="3200" b="1" dirty="0">
                <a:solidFill>
                  <a:srgbClr val="F2A93B"/>
                </a:solidFill>
                <a:latin typeface="Cambria" pitchFamily="34" charset="0"/>
                <a:ea typeface="Cambria" pitchFamily="34" charset="-122"/>
                <a:cs typeface="Cambria" pitchFamily="34" charset="-120"/>
              </a:rPr>
              <a:t>5</a:t>
            </a:r>
            <a:endParaRPr lang="en-US" sz="3200" dirty="0"/>
          </a:p>
          <a:p>
            <a:pPr algn="ctr" indent="0" marL="0">
              <a:buNone/>
            </a:pPr>
            <a:r>
              <a:rPr lang="en-US" sz="1300" dirty="0">
                <a:solidFill>
                  <a:srgbClr val="FFFFFF"/>
                </a:solidFill>
                <a:latin typeface="Calibri" pitchFamily="34" charset="0"/>
                <a:ea typeface="Calibri" pitchFamily="34" charset="-122"/>
                <a:cs typeface="Calibri" pitchFamily="34" charset="-120"/>
              </a:rPr>
              <a:t>tầng</a:t>
            </a:r>
            <a:endParaRPr lang="en-US" sz="3200" dirty="0"/>
          </a:p>
        </p:txBody>
      </p:sp>
      <p:sp>
        <p:nvSpPr>
          <p:cNvPr id="8" name="StatTile3"/>
          <p:cNvSpPr/>
          <p:nvPr/>
        </p:nvSpPr>
        <p:spPr>
          <a:xfrm>
            <a:off x="7315200" y="1188720"/>
            <a:ext cx="1371600" cy="1097280"/>
          </a:xfrm>
          <a:prstGeom prst="roundRect">
            <a:avLst>
              <a:gd name="adj" fmla="val 8333"/>
            </a:avLst>
          </a:prstGeom>
          <a:solidFill>
            <a:srgbClr val="0F2D40"/>
          </a:solidFill>
          <a:ln/>
        </p:spPr>
      </p:sp>
      <p:sp>
        <p:nvSpPr>
          <p:cNvPr id="9" name="Text 6"/>
          <p:cNvSpPr txBox="1"/>
          <p:nvPr/>
        </p:nvSpPr>
        <p:spPr>
          <a:xfrm>
            <a:off x="7315200" y="1188720"/>
            <a:ext cx="1371600" cy="1097280"/>
          </a:xfrm>
          <a:prstGeom prst="rect">
            <a:avLst/>
          </a:prstGeom>
          <a:noFill/>
          <a:ln/>
        </p:spPr>
        <p:txBody>
          <a:bodyPr wrap="square" lIns="0" tIns="0" rIns="0" bIns="0" rtlCol="0" anchor="ctr"/>
          <a:lstStyle/>
          <a:p>
            <a:pPr algn="ctr" indent="0" marL="0">
              <a:buNone/>
            </a:pPr>
            <a:r>
              <a:rPr lang="en-US" sz="3200" b="1" dirty="0">
                <a:solidFill>
                  <a:srgbClr val="F2A93B"/>
                </a:solidFill>
                <a:latin typeface="Cambria" pitchFamily="34" charset="0"/>
                <a:ea typeface="Cambria" pitchFamily="34" charset="-122"/>
                <a:cs typeface="Cambria" pitchFamily="34" charset="-120"/>
              </a:rPr>
              <a:t>103</a:t>
            </a:r>
            <a:endParaRPr lang="en-US" sz="3200" dirty="0"/>
          </a:p>
          <a:p>
            <a:pPr algn="ctr" indent="0" marL="0">
              <a:buNone/>
            </a:pPr>
            <a:r>
              <a:rPr lang="en-US" sz="1300" dirty="0">
                <a:solidFill>
                  <a:srgbClr val="FFFFFF"/>
                </a:solidFill>
                <a:latin typeface="Calibri" pitchFamily="34" charset="0"/>
                <a:ea typeface="Calibri" pitchFamily="34" charset="-122"/>
                <a:cs typeface="Calibri" pitchFamily="34" charset="-120"/>
              </a:rPr>
              <a:t>lần gọi LLM</a:t>
            </a:r>
            <a:endParaRPr lang="en-US" sz="3200" dirty="0"/>
          </a:p>
        </p:txBody>
      </p:sp>
      <p:sp>
        <p:nvSpPr>
          <p:cNvPr id="10" name="Text 7"/>
          <p:cNvSpPr txBox="1"/>
          <p:nvPr/>
        </p:nvSpPr>
        <p:spPr>
          <a:xfrm>
            <a:off x="4389120" y="2560320"/>
            <a:ext cx="42976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A33"/>
                </a:solidFill>
                <a:latin typeface="Calibri" pitchFamily="34" charset="0"/>
                <a:ea typeface="Calibri" pitchFamily="34" charset="-122"/>
                <a:cs typeface="Calibri" pitchFamily="34" charset="-120"/>
              </a:rPr>
              <a:t>Lá là nguyên văn từng mục, nút cha là bản tóm tắt tính từ dưới lên</a:t>
            </a:r>
            <a:endParaRPr lang="en-US" sz="1600" dirty="0"/>
          </a:p>
          <a:p>
            <a:pPr marL="342900" indent="-342900">
              <a:spcAft>
                <a:spcPts val="1000"/>
              </a:spcAft>
              <a:buSzPct val="100000"/>
              <a:buChar char="•"/>
            </a:pPr>
            <a:r>
              <a:rPr lang="en-US" sz="1600" dirty="0">
                <a:solidFill>
                  <a:srgbClr val="1B2A33"/>
                </a:solidFill>
                <a:latin typeface="Calibri" pitchFamily="34" charset="0"/>
                <a:ea typeface="Calibri" pitchFamily="34" charset="-122"/>
                <a:cs typeface="Calibri" pitchFamily="34" charset="-120"/>
              </a:rPr>
              <a:t>Mỗi nút nhớ số dòng trong tài liệu nguồn nên trích dẫn chính xác</a:t>
            </a:r>
            <a:endParaRPr lang="en-US" sz="1600" dirty="0"/>
          </a:p>
          <a:p>
            <a:pPr marL="342900" indent="-342900">
              <a:spcAft>
                <a:spcPts val="1000"/>
              </a:spcAft>
              <a:buSzPct val="100000"/>
              <a:buChar char="•"/>
            </a:pPr>
            <a:r>
              <a:rPr lang="en-US" sz="1600" dirty="0">
                <a:solidFill>
                  <a:srgbClr val="1B2A33"/>
                </a:solidFill>
                <a:latin typeface="Calibri" pitchFamily="34" charset="0"/>
                <a:ea typeface="Calibri" pitchFamily="34" charset="-122"/>
                <a:cs typeface="Calibri" pitchFamily="34" charset="-120"/>
              </a:rPr>
              <a:t>Đi lên, xuống, sang bên trong cây để lấy thêm ngữ cảnh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1B2A33"/>
                </a:solidFill>
                <a:latin typeface="Cambria" pitchFamily="34" charset="0"/>
                <a:ea typeface="Cambria" pitchFamily="34" charset="-122"/>
                <a:cs typeface="Cambria" pitchFamily="34" charset="-120"/>
              </a:rPr>
              <a:t>Agent đa khía cạnh, tự kiểm tra và sửa lỗi</a:t>
            </a:r>
            <a:endParaRPr lang="en-US" sz="2800" dirty="0"/>
          </a:p>
        </p:txBody>
      </p:sp>
      <p:sp>
        <p:nvSpPr>
          <p:cNvPr id="3" name="LoopBox1"/>
          <p:cNvSpPr/>
          <p:nvPr/>
        </p:nvSpPr>
        <p:spPr>
          <a:xfrm>
            <a:off x="548640" y="1188720"/>
            <a:ext cx="2468880" cy="603504"/>
          </a:xfrm>
          <a:prstGeom prst="roundRect">
            <a:avLst>
              <a:gd name="adj" fmla="val 12121"/>
            </a:avLst>
          </a:prstGeom>
          <a:solidFill>
            <a:srgbClr val="F3F6F8"/>
          </a:solidFill>
          <a:ln/>
          <a:effectLst>
            <a:outerShdw sx="100000" sy="100000" kx="0" ky="0" algn="bl" rotWithShape="0" blurRad="76200" dist="25400" dir="5400000">
              <a:srgbClr val="000000">
                <a:alpha val="12000"/>
              </a:srgbClr>
            </a:outerShdw>
          </a:effectLst>
        </p:spPr>
      </p:sp>
      <p:sp>
        <p:nvSpPr>
          <p:cNvPr id="4" name="Text 2"/>
          <p:cNvSpPr txBox="1"/>
          <p:nvPr/>
        </p:nvSpPr>
        <p:spPr>
          <a:xfrm>
            <a:off x="548640" y="1188720"/>
            <a:ext cx="2468880" cy="603504"/>
          </a:xfrm>
          <a:prstGeom prst="rect">
            <a:avLst/>
          </a:prstGeom>
          <a:noFill/>
          <a:ln/>
        </p:spPr>
        <p:txBody>
          <a:bodyPr wrap="square" lIns="25400" tIns="25400" rIns="25400" bIns="25400" rtlCol="0" anchor="ctr"/>
          <a:lstStyle/>
          <a:p>
            <a:pPr algn="ctr" indent="0" marL="0">
              <a:buNone/>
            </a:pPr>
            <a:r>
              <a:rPr lang="en-US" sz="1400" b="1" dirty="0">
                <a:solidFill>
                  <a:srgbClr val="0F2D40"/>
                </a:solidFill>
                <a:latin typeface="Calibri" pitchFamily="34" charset="0"/>
                <a:ea typeface="Calibri" pitchFamily="34" charset="-122"/>
                <a:cs typeface="Calibri" pitchFamily="34" charset="-120"/>
              </a:rPr>
              <a:t>Chọn công cụ tìm kiếm</a:t>
            </a:r>
            <a:endParaRPr lang="en-US" sz="1400" dirty="0"/>
          </a:p>
        </p:txBody>
      </p:sp>
      <p:sp>
        <p:nvSpPr>
          <p:cNvPr id="5" name="LoopArrow1"/>
          <p:cNvSpPr/>
          <p:nvPr/>
        </p:nvSpPr>
        <p:spPr>
          <a:xfrm>
            <a:off x="1783080" y="1810512"/>
            <a:ext cx="0" cy="256032"/>
          </a:xfrm>
          <a:prstGeom prst="line">
            <a:avLst/>
          </a:prstGeom>
          <a:noFill/>
          <a:ln w="25400">
            <a:solidFill>
              <a:srgbClr val="1C6E8C"/>
            </a:solidFill>
            <a:prstDash val="solid"/>
            <a:tailEnd type="triangle"/>
          </a:ln>
        </p:spPr>
      </p:sp>
      <p:sp>
        <p:nvSpPr>
          <p:cNvPr id="6" name="LoopBox2"/>
          <p:cNvSpPr/>
          <p:nvPr/>
        </p:nvSpPr>
        <p:spPr>
          <a:xfrm>
            <a:off x="548640" y="2084832"/>
            <a:ext cx="2468880" cy="603504"/>
          </a:xfrm>
          <a:prstGeom prst="roundRect">
            <a:avLst>
              <a:gd name="adj" fmla="val 12121"/>
            </a:avLst>
          </a:prstGeom>
          <a:solidFill>
            <a:srgbClr val="F3F6F8"/>
          </a:solidFill>
          <a:ln/>
          <a:effectLst>
            <a:outerShdw sx="100000" sy="100000" kx="0" ky="0" algn="bl" rotWithShape="0" blurRad="76200" dist="25400" dir="5400000">
              <a:srgbClr val="000000">
                <a:alpha val="12000"/>
              </a:srgbClr>
            </a:outerShdw>
          </a:effectLst>
        </p:spPr>
      </p:sp>
      <p:sp>
        <p:nvSpPr>
          <p:cNvPr id="7" name="Text 5"/>
          <p:cNvSpPr txBox="1"/>
          <p:nvPr/>
        </p:nvSpPr>
        <p:spPr>
          <a:xfrm>
            <a:off x="548640" y="2084832"/>
            <a:ext cx="2468880" cy="603504"/>
          </a:xfrm>
          <a:prstGeom prst="rect">
            <a:avLst/>
          </a:prstGeom>
          <a:noFill/>
          <a:ln/>
        </p:spPr>
        <p:txBody>
          <a:bodyPr wrap="square" lIns="25400" tIns="25400" rIns="25400" bIns="25400" rtlCol="0" anchor="ctr"/>
          <a:lstStyle/>
          <a:p>
            <a:pPr algn="ctr" indent="0" marL="0">
              <a:buNone/>
            </a:pPr>
            <a:r>
              <a:rPr lang="en-US" sz="1400" b="1" dirty="0">
                <a:solidFill>
                  <a:srgbClr val="0F2D40"/>
                </a:solidFill>
                <a:latin typeface="Calibri" pitchFamily="34" charset="0"/>
                <a:ea typeface="Calibri" pitchFamily="34" charset="-122"/>
                <a:cs typeface="Calibri" pitchFamily="34" charset="-120"/>
              </a:rPr>
              <a:t>Chạy công cụ song song</a:t>
            </a:r>
            <a:endParaRPr lang="en-US" sz="1400" dirty="0"/>
          </a:p>
        </p:txBody>
      </p:sp>
      <p:sp>
        <p:nvSpPr>
          <p:cNvPr id="8" name="LoopArrow2"/>
          <p:cNvSpPr/>
          <p:nvPr/>
        </p:nvSpPr>
        <p:spPr>
          <a:xfrm>
            <a:off x="1783080" y="2706624"/>
            <a:ext cx="0" cy="256032"/>
          </a:xfrm>
          <a:prstGeom prst="line">
            <a:avLst/>
          </a:prstGeom>
          <a:noFill/>
          <a:ln w="25400">
            <a:solidFill>
              <a:srgbClr val="1C6E8C"/>
            </a:solidFill>
            <a:prstDash val="solid"/>
            <a:tailEnd type="triangle"/>
          </a:ln>
        </p:spPr>
      </p:sp>
      <p:sp>
        <p:nvSpPr>
          <p:cNvPr id="9" name="LoopBox3"/>
          <p:cNvSpPr/>
          <p:nvPr/>
        </p:nvSpPr>
        <p:spPr>
          <a:xfrm>
            <a:off x="548640" y="2980944"/>
            <a:ext cx="2468880" cy="603504"/>
          </a:xfrm>
          <a:prstGeom prst="roundRect">
            <a:avLst>
              <a:gd name="adj" fmla="val 12121"/>
            </a:avLst>
          </a:prstGeom>
          <a:solidFill>
            <a:srgbClr val="F3F6F8"/>
          </a:solidFill>
          <a:ln/>
          <a:effectLst>
            <a:outerShdw sx="100000" sy="100000" kx="0" ky="0" algn="bl" rotWithShape="0" blurRad="76200" dist="25400" dir="5400000">
              <a:srgbClr val="000000">
                <a:alpha val="12000"/>
              </a:srgbClr>
            </a:outerShdw>
          </a:effectLst>
        </p:spPr>
      </p:sp>
      <p:sp>
        <p:nvSpPr>
          <p:cNvPr id="10" name="Text 8"/>
          <p:cNvSpPr txBox="1"/>
          <p:nvPr/>
        </p:nvSpPr>
        <p:spPr>
          <a:xfrm>
            <a:off x="548640" y="2980944"/>
            <a:ext cx="2468880" cy="603504"/>
          </a:xfrm>
          <a:prstGeom prst="rect">
            <a:avLst/>
          </a:prstGeom>
          <a:noFill/>
          <a:ln/>
        </p:spPr>
        <p:txBody>
          <a:bodyPr wrap="square" lIns="25400" tIns="25400" rIns="25400" bIns="25400" rtlCol="0" anchor="ctr"/>
          <a:lstStyle/>
          <a:p>
            <a:pPr algn="ctr" indent="0" marL="0">
              <a:buNone/>
            </a:pPr>
            <a:r>
              <a:rPr lang="en-US" sz="1400" b="1" dirty="0">
                <a:solidFill>
                  <a:srgbClr val="0F2D40"/>
                </a:solidFill>
                <a:latin typeface="Calibri" pitchFamily="34" charset="0"/>
                <a:ea typeface="Calibri" pitchFamily="34" charset="-122"/>
                <a:cs typeface="Calibri" pitchFamily="34" charset="-120"/>
              </a:rPr>
              <a:t>Chấm điểm từng đoạn</a:t>
            </a:r>
            <a:endParaRPr lang="en-US" sz="1400" dirty="0"/>
          </a:p>
        </p:txBody>
      </p:sp>
      <p:sp>
        <p:nvSpPr>
          <p:cNvPr id="11" name="LoopArrow3"/>
          <p:cNvSpPr/>
          <p:nvPr/>
        </p:nvSpPr>
        <p:spPr>
          <a:xfrm>
            <a:off x="1783080" y="3602736"/>
            <a:ext cx="0" cy="256032"/>
          </a:xfrm>
          <a:prstGeom prst="line">
            <a:avLst/>
          </a:prstGeom>
          <a:noFill/>
          <a:ln w="25400">
            <a:solidFill>
              <a:srgbClr val="1C6E8C"/>
            </a:solidFill>
            <a:prstDash val="solid"/>
            <a:tailEnd type="triangle"/>
          </a:ln>
        </p:spPr>
      </p:sp>
      <p:sp>
        <p:nvSpPr>
          <p:cNvPr id="12" name="LoopBox4"/>
          <p:cNvSpPr/>
          <p:nvPr/>
        </p:nvSpPr>
        <p:spPr>
          <a:xfrm>
            <a:off x="548640" y="3877056"/>
            <a:ext cx="2468880" cy="603504"/>
          </a:xfrm>
          <a:prstGeom prst="roundRect">
            <a:avLst>
              <a:gd name="adj" fmla="val 12121"/>
            </a:avLst>
          </a:prstGeom>
          <a:solidFill>
            <a:srgbClr val="F2A93B"/>
          </a:solidFill>
          <a:ln/>
          <a:effectLst>
            <a:outerShdw sx="100000" sy="100000" kx="0" ky="0" algn="bl" rotWithShape="0" blurRad="76200" dist="25400" dir="5400000">
              <a:srgbClr val="000000">
                <a:alpha val="12000"/>
              </a:srgbClr>
            </a:outerShdw>
          </a:effectLst>
        </p:spPr>
      </p:sp>
      <p:sp>
        <p:nvSpPr>
          <p:cNvPr id="13" name="Text 11"/>
          <p:cNvSpPr txBox="1"/>
          <p:nvPr/>
        </p:nvSpPr>
        <p:spPr>
          <a:xfrm>
            <a:off x="548640" y="3877056"/>
            <a:ext cx="2468880" cy="603504"/>
          </a:xfrm>
          <a:prstGeom prst="rect">
            <a:avLst/>
          </a:prstGeom>
          <a:noFill/>
          <a:ln/>
        </p:spPr>
        <p:txBody>
          <a:bodyPr wrap="square" lIns="25400" tIns="25400" rIns="25400" bIns="25400" rtlCol="0" anchor="ctr"/>
          <a:lstStyle/>
          <a:p>
            <a:pPr algn="ctr" indent="0" marL="0">
              <a:buNone/>
            </a:pPr>
            <a:r>
              <a:rPr lang="en-US" sz="1400" b="1" dirty="0">
                <a:solidFill>
                  <a:srgbClr val="0F2D40"/>
                </a:solidFill>
                <a:latin typeface="Calibri" pitchFamily="34" charset="0"/>
                <a:ea typeface="Calibri" pitchFamily="34" charset="-122"/>
                <a:cs typeface="Calibri" pitchFamily="34" charset="-120"/>
              </a:rPr>
              <a:t>Đã đủ ngữ cảnh chưa?</a:t>
            </a:r>
            <a:endParaRPr lang="en-US" sz="1400" dirty="0"/>
          </a:p>
        </p:txBody>
      </p:sp>
      <p:sp>
        <p:nvSpPr>
          <p:cNvPr id="14" name="LoopBack1"/>
          <p:cNvSpPr/>
          <p:nvPr/>
        </p:nvSpPr>
        <p:spPr>
          <a:xfrm>
            <a:off x="3017520" y="4114800"/>
            <a:ext cx="274320" cy="0"/>
          </a:xfrm>
          <a:prstGeom prst="line">
            <a:avLst/>
          </a:prstGeom>
          <a:noFill/>
          <a:ln w="25400">
            <a:solidFill>
              <a:srgbClr val="1C6E8C"/>
            </a:solidFill>
            <a:prstDash val="solid"/>
          </a:ln>
        </p:spPr>
      </p:sp>
      <p:sp>
        <p:nvSpPr>
          <p:cNvPr id="15" name="LoopBack2"/>
          <p:cNvSpPr/>
          <p:nvPr/>
        </p:nvSpPr>
        <p:spPr>
          <a:xfrm>
            <a:off x="3291840" y="1490472"/>
            <a:ext cx="0" cy="2624328"/>
          </a:xfrm>
          <a:prstGeom prst="line">
            <a:avLst/>
          </a:prstGeom>
          <a:noFill/>
          <a:ln w="25400">
            <a:solidFill>
              <a:srgbClr val="1C6E8C"/>
            </a:solidFill>
            <a:prstDash val="solid"/>
          </a:ln>
        </p:spPr>
      </p:sp>
      <p:sp>
        <p:nvSpPr>
          <p:cNvPr id="16" name="LoopBack3"/>
          <p:cNvSpPr/>
          <p:nvPr/>
        </p:nvSpPr>
        <p:spPr>
          <a:xfrm flipH="1">
            <a:off x="3017520" y="1490472"/>
            <a:ext cx="274320" cy="0"/>
          </a:xfrm>
          <a:prstGeom prst="line">
            <a:avLst/>
          </a:prstGeom>
          <a:noFill/>
          <a:ln w="25400">
            <a:solidFill>
              <a:srgbClr val="1C6E8C"/>
            </a:solidFill>
            <a:prstDash val="solid"/>
            <a:tailEnd type="triangle"/>
          </a:ln>
        </p:spPr>
      </p:sp>
      <p:sp>
        <p:nvSpPr>
          <p:cNvPr id="17" name="Text 15"/>
          <p:cNvSpPr txBox="1"/>
          <p:nvPr/>
        </p:nvSpPr>
        <p:spPr>
          <a:xfrm>
            <a:off x="3383280" y="2651760"/>
            <a:ext cx="914400" cy="457200"/>
          </a:xfrm>
          <a:prstGeom prst="rect">
            <a:avLst/>
          </a:prstGeom>
          <a:noFill/>
          <a:ln/>
        </p:spPr>
        <p:txBody>
          <a:bodyPr wrap="square" lIns="0" tIns="0" rIns="0" bIns="0" rtlCol="0" anchor="ctr"/>
          <a:lstStyle/>
          <a:p>
            <a:pPr indent="0" marL="0">
              <a:buNone/>
            </a:pPr>
            <a:r>
              <a:rPr lang="en-US" sz="1100" i="1" dirty="0">
                <a:solidFill>
                  <a:srgbClr val="5B6B75"/>
                </a:solidFill>
                <a:latin typeface="Calibri" pitchFamily="34" charset="0"/>
                <a:ea typeface="Calibri" pitchFamily="34" charset="-122"/>
                <a:cs typeface="Calibri" pitchFamily="34" charset="-120"/>
              </a:rPr>
              <a:t>chưa đủ: lặp lại</a:t>
            </a:r>
            <a:endParaRPr lang="en-US" sz="1100" dirty="0"/>
          </a:p>
        </p:txBody>
      </p:sp>
      <p:sp>
        <p:nvSpPr>
          <p:cNvPr id="18" name="StepNum1"/>
          <p:cNvSpPr/>
          <p:nvPr/>
        </p:nvSpPr>
        <p:spPr>
          <a:xfrm>
            <a:off x="4434840" y="1280160"/>
            <a:ext cx="548640" cy="548640"/>
          </a:xfrm>
          <a:prstGeom prst="ellipse">
            <a:avLst/>
          </a:prstGeom>
          <a:solidFill>
            <a:srgbClr val="1C6E8C"/>
          </a:solidFill>
          <a:ln/>
        </p:spPr>
      </p:sp>
      <p:sp>
        <p:nvSpPr>
          <p:cNvPr id="19" name="Text 17"/>
          <p:cNvSpPr txBox="1"/>
          <p:nvPr/>
        </p:nvSpPr>
        <p:spPr>
          <a:xfrm>
            <a:off x="4434840"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20" name="Text 18"/>
          <p:cNvSpPr txBox="1"/>
          <p:nvPr/>
        </p:nvSpPr>
        <p:spPr>
          <a:xfrm>
            <a:off x="5166360" y="1188720"/>
            <a:ext cx="3520440" cy="1005840"/>
          </a:xfrm>
          <a:prstGeom prst="rect">
            <a:avLst/>
          </a:prstGeom>
          <a:noFill/>
          <a:ln/>
        </p:spPr>
        <p:txBody>
          <a:bodyPr wrap="square" lIns="0" tIns="0" rIns="0" bIns="0" rtlCol="0" anchor="t"/>
          <a:lstStyle/>
          <a:p>
            <a:pPr indent="0" marL="0">
              <a:buNone/>
            </a:pPr>
            <a:r>
              <a:rPr lang="en-US" sz="1800" b="1" dirty="0">
                <a:solidFill>
                  <a:srgbClr val="0F2D40"/>
                </a:solidFill>
                <a:latin typeface="Calibri" pitchFamily="34" charset="0"/>
                <a:ea typeface="Calibri" pitchFamily="34" charset="-122"/>
                <a:cs typeface="Calibri" pitchFamily="34" charset="-120"/>
              </a:rPr>
              <a:t>Tách</a:t>
            </a:r>
            <a:endParaRPr lang="en-US" sz="1800" dirty="0"/>
          </a:p>
          <a:p>
            <a:pPr indent="0" marL="0">
              <a:buNone/>
            </a:pPr>
            <a:r>
              <a:rPr lang="en-US" sz="1500" dirty="0">
                <a:solidFill>
                  <a:srgbClr val="1B2A33"/>
                </a:solidFill>
                <a:latin typeface="Calibri" pitchFamily="34" charset="0"/>
                <a:ea typeface="Calibri" pitchFamily="34" charset="-122"/>
                <a:cs typeface="Calibri" pitchFamily="34" charset="-120"/>
              </a:rPr>
              <a:t>Câu hỏi được tách thành tối đa 4 khía cạnh, chạy song song</a:t>
            </a:r>
            <a:endParaRPr lang="en-US" sz="1800" dirty="0"/>
          </a:p>
        </p:txBody>
      </p:sp>
      <p:sp>
        <p:nvSpPr>
          <p:cNvPr id="21" name="StepNum2"/>
          <p:cNvSpPr/>
          <p:nvPr/>
        </p:nvSpPr>
        <p:spPr>
          <a:xfrm>
            <a:off x="4434840" y="2514600"/>
            <a:ext cx="548640" cy="548640"/>
          </a:xfrm>
          <a:prstGeom prst="ellipse">
            <a:avLst/>
          </a:prstGeom>
          <a:solidFill>
            <a:srgbClr val="1C6E8C"/>
          </a:solidFill>
          <a:ln/>
        </p:spPr>
      </p:sp>
      <p:sp>
        <p:nvSpPr>
          <p:cNvPr id="22" name="Text 20"/>
          <p:cNvSpPr txBox="1"/>
          <p:nvPr/>
        </p:nvSpPr>
        <p:spPr>
          <a:xfrm>
            <a:off x="4434840" y="25146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23" name="Text 21"/>
          <p:cNvSpPr txBox="1"/>
          <p:nvPr/>
        </p:nvSpPr>
        <p:spPr>
          <a:xfrm>
            <a:off x="5166360" y="2423160"/>
            <a:ext cx="3520440" cy="1005840"/>
          </a:xfrm>
          <a:prstGeom prst="rect">
            <a:avLst/>
          </a:prstGeom>
          <a:noFill/>
          <a:ln/>
        </p:spPr>
        <p:txBody>
          <a:bodyPr wrap="square" lIns="0" tIns="0" rIns="0" bIns="0" rtlCol="0" anchor="t"/>
          <a:lstStyle/>
          <a:p>
            <a:pPr indent="0" marL="0">
              <a:buNone/>
            </a:pPr>
            <a:r>
              <a:rPr lang="en-US" sz="1800" b="1" dirty="0">
                <a:solidFill>
                  <a:srgbClr val="0F2D40"/>
                </a:solidFill>
                <a:latin typeface="Calibri" pitchFamily="34" charset="0"/>
                <a:ea typeface="Calibri" pitchFamily="34" charset="-122"/>
                <a:cs typeface="Calibri" pitchFamily="34" charset="-120"/>
              </a:rPr>
              <a:t>Truy hồi</a:t>
            </a:r>
            <a:endParaRPr lang="en-US" sz="1800" dirty="0"/>
          </a:p>
          <a:p>
            <a:pPr indent="0" marL="0">
              <a:buNone/>
            </a:pPr>
            <a:r>
              <a:rPr lang="en-US" sz="1500" dirty="0">
                <a:solidFill>
                  <a:srgbClr val="1B2A33"/>
                </a:solidFill>
                <a:latin typeface="Calibri" pitchFamily="34" charset="0"/>
                <a:ea typeface="Calibri" pitchFamily="34" charset="-122"/>
                <a:cs typeface="Calibri" pitchFamily="34" charset="-120"/>
              </a:rPr>
              <a:t>Mỗi khía cạnh chọn 1 trong 5 công cụ, chấm điểm đoạn, tự đánh giá đã đủ chưa</a:t>
            </a:r>
            <a:endParaRPr lang="en-US" sz="1800" dirty="0"/>
          </a:p>
        </p:txBody>
      </p:sp>
      <p:sp>
        <p:nvSpPr>
          <p:cNvPr id="24" name="StepNum3"/>
          <p:cNvSpPr/>
          <p:nvPr/>
        </p:nvSpPr>
        <p:spPr>
          <a:xfrm>
            <a:off x="4434840" y="3749040"/>
            <a:ext cx="548640" cy="548640"/>
          </a:xfrm>
          <a:prstGeom prst="ellipse">
            <a:avLst/>
          </a:prstGeom>
          <a:solidFill>
            <a:srgbClr val="1C6E8C"/>
          </a:solidFill>
          <a:ln/>
        </p:spPr>
      </p:sp>
      <p:sp>
        <p:nvSpPr>
          <p:cNvPr id="25" name="Text 23"/>
          <p:cNvSpPr txBox="1"/>
          <p:nvPr/>
        </p:nvSpPr>
        <p:spPr>
          <a:xfrm>
            <a:off x="4434840" y="37490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6" name="Text 24"/>
          <p:cNvSpPr txBox="1"/>
          <p:nvPr/>
        </p:nvSpPr>
        <p:spPr>
          <a:xfrm>
            <a:off x="5166360" y="3657600"/>
            <a:ext cx="3520440" cy="1005840"/>
          </a:xfrm>
          <a:prstGeom prst="rect">
            <a:avLst/>
          </a:prstGeom>
          <a:noFill/>
          <a:ln/>
        </p:spPr>
        <p:txBody>
          <a:bodyPr wrap="square" lIns="0" tIns="0" rIns="0" bIns="0" rtlCol="0" anchor="t"/>
          <a:lstStyle/>
          <a:p>
            <a:pPr indent="0" marL="0">
              <a:buNone/>
            </a:pPr>
            <a:r>
              <a:rPr lang="en-US" sz="1800" b="1" dirty="0">
                <a:solidFill>
                  <a:srgbClr val="0F2D40"/>
                </a:solidFill>
                <a:latin typeface="Calibri" pitchFamily="34" charset="0"/>
                <a:ea typeface="Calibri" pitchFamily="34" charset="-122"/>
                <a:cs typeface="Calibri" pitchFamily="34" charset="-120"/>
              </a:rPr>
              <a:t>Trả lời</a:t>
            </a:r>
            <a:endParaRPr lang="en-US" sz="1800" dirty="0"/>
          </a:p>
          <a:p>
            <a:pPr indent="0" marL="0">
              <a:buNone/>
            </a:pPr>
            <a:r>
              <a:rPr lang="en-US" sz="1500" dirty="0">
                <a:solidFill>
                  <a:srgbClr val="1B2A33"/>
                </a:solidFill>
                <a:latin typeface="Calibri" pitchFamily="34" charset="0"/>
                <a:ea typeface="Calibri" pitchFamily="34" charset="-122"/>
                <a:cs typeface="Calibri" pitchFamily="34" charset="-120"/>
              </a:rPr>
              <a:t>Dừng khi đủ ngữ cảnh hoặc hết 5 vòng, rồi sinh câu trả lời có trích dẫn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1B2A33"/>
                </a:solidFill>
                <a:latin typeface="Cambria" pitchFamily="34" charset="0"/>
                <a:ea typeface="Cambria" pitchFamily="34" charset="-122"/>
                <a:cs typeface="Cambria" pitchFamily="34" charset="-120"/>
              </a:rPr>
              <a:t>Điểm LLM-judge tăng từ 6,3 lên 8,54</a:t>
            </a:r>
            <a:endParaRPr lang="en-US" sz="2800" dirty="0"/>
          </a:p>
        </p:txBody>
      </p:sp>
      <p:graphicFrame>
        <p:nvGraphicFramePr>
          <p:cNvPr id="3" name="ScoreChart" descr=""/>
          <p:cNvGraphicFramePr/>
          <p:nvPr/>
        </p:nvGraphicFramePr>
        <p:xfrm>
          <a:off x="365760" y="1051560"/>
          <a:ext cx="5943600" cy="3840480"/>
        </p:xfrm>
        <a:graphic xmlns:a="http://schemas.openxmlformats.org/drawingml/2006/main">
          <a:graphicData uri="http://schemas.openxmlformats.org/drawingml/2006/chart">
            <c:chart xmlns:c="http://schemas.openxmlformats.org/drawingml/2006/chart" r:id="rId1"/>
          </a:graphicData>
        </a:graphic>
      </p:graphicFrame>
      <p:sp>
        <p:nvSpPr>
          <p:cNvPr id="4" name="BigStat"/>
          <p:cNvSpPr/>
          <p:nvPr/>
        </p:nvSpPr>
        <p:spPr>
          <a:xfrm>
            <a:off x="6583680" y="1188720"/>
            <a:ext cx="2194560" cy="1828800"/>
          </a:xfrm>
          <a:prstGeom prst="roundRect">
            <a:avLst>
              <a:gd name="adj" fmla="val 5000"/>
            </a:avLst>
          </a:prstGeom>
          <a:solidFill>
            <a:srgbClr val="0F2D40"/>
          </a:solidFill>
          <a:ln/>
        </p:spPr>
      </p:sp>
      <p:sp>
        <p:nvSpPr>
          <p:cNvPr id="5" name="Text 2"/>
          <p:cNvSpPr txBox="1"/>
          <p:nvPr/>
        </p:nvSpPr>
        <p:spPr>
          <a:xfrm>
            <a:off x="6583680" y="1188720"/>
            <a:ext cx="2194560" cy="1828800"/>
          </a:xfrm>
          <a:prstGeom prst="rect">
            <a:avLst/>
          </a:prstGeom>
          <a:noFill/>
          <a:ln/>
        </p:spPr>
        <p:txBody>
          <a:bodyPr wrap="square" lIns="0" tIns="0" rIns="0" bIns="0" rtlCol="0" anchor="ctr"/>
          <a:lstStyle/>
          <a:p>
            <a:pPr algn="ctr" indent="0" marL="0">
              <a:buNone/>
            </a:pPr>
            <a:r>
              <a:rPr lang="en-US" sz="4800" b="1" dirty="0">
                <a:solidFill>
                  <a:srgbClr val="F2A93B"/>
                </a:solidFill>
                <a:latin typeface="Cambria" pitchFamily="34" charset="0"/>
                <a:ea typeface="Cambria" pitchFamily="34" charset="-122"/>
                <a:cs typeface="Cambria" pitchFamily="34" charset="-120"/>
              </a:rPr>
              <a:t>8,54</a:t>
            </a:r>
            <a:endParaRPr lang="en-US" sz="4800" dirty="0"/>
          </a:p>
          <a:p>
            <a:pPr algn="ctr" indent="0" marL="0">
              <a:buNone/>
            </a:pPr>
            <a:r>
              <a:rPr lang="en-US" sz="1400" dirty="0">
                <a:solidFill>
                  <a:srgbClr val="FFFFFF"/>
                </a:solidFill>
                <a:latin typeface="Calibri" pitchFamily="34" charset="0"/>
                <a:ea typeface="Calibri" pitchFamily="34" charset="-122"/>
                <a:cs typeface="Calibri" pitchFamily="34" charset="-120"/>
              </a:rPr>
              <a:t>trên thang 10, HRAG</a:t>
            </a:r>
            <a:endParaRPr lang="en-US" sz="4800" dirty="0"/>
          </a:p>
        </p:txBody>
      </p:sp>
      <p:sp>
        <p:nvSpPr>
          <p:cNvPr id="6" name="Text 3"/>
          <p:cNvSpPr txBox="1"/>
          <p:nvPr/>
        </p:nvSpPr>
        <p:spPr>
          <a:xfrm>
            <a:off x="6583680" y="3200400"/>
            <a:ext cx="2194560" cy="1371600"/>
          </a:xfrm>
          <a:prstGeom prst="rect">
            <a:avLst/>
          </a:prstGeom>
          <a:noFill/>
          <a:ln/>
        </p:spPr>
        <p:txBody>
          <a:bodyPr wrap="square" lIns="0" tIns="0" rIns="0" bIns="0" rtlCol="0" anchor="t"/>
          <a:lstStyle/>
          <a:p>
            <a:pPr indent="0" marL="0">
              <a:spcAft>
                <a:spcPts val="600"/>
              </a:spcAft>
              <a:buNone/>
            </a:pPr>
            <a:r>
              <a:rPr lang="en-US" sz="1500" b="1" dirty="0">
                <a:solidFill>
                  <a:srgbClr val="0F2D40"/>
                </a:solidFill>
                <a:latin typeface="Calibri" pitchFamily="34" charset="0"/>
                <a:ea typeface="Calibri" pitchFamily="34" charset="-122"/>
                <a:cs typeface="Calibri" pitchFamily="34" charset="-120"/>
              </a:rPr>
              <a:t>+2,2 điểm so với Naive RAG</a:t>
            </a:r>
            <a:endParaRPr lang="en-US" sz="1500" dirty="0"/>
          </a:p>
          <a:p>
            <a:pPr indent="0" marL="0">
              <a:spcAft>
                <a:spcPts val="600"/>
              </a:spcAft>
              <a:buNone/>
            </a:pPr>
            <a:r>
              <a:rPr lang="en-US" sz="1300" dirty="0">
                <a:solidFill>
                  <a:srgbClr val="5B6B75"/>
                </a:solidFill>
                <a:latin typeface="Calibri" pitchFamily="34" charset="0"/>
                <a:ea typeface="Calibri" pitchFamily="34" charset="-122"/>
                <a:cs typeface="Calibri" pitchFamily="34" charset="-120"/>
              </a:rPr>
              <a:t>30 câu hỏi pháp luật, judge LLM, độ nhiễu khoảng ±0,06</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1B2A33"/>
                </a:solidFill>
                <a:latin typeface="Cambria" pitchFamily="34" charset="0"/>
                <a:ea typeface="Cambria" pitchFamily="34" charset="-122"/>
                <a:cs typeface="Cambria" pitchFamily="34" charset="-120"/>
              </a:rPr>
              <a:t>Backend, cơ sở dữ liệu và bộ nhớ hội thoại</a:t>
            </a:r>
            <a:endParaRPr lang="en-US" sz="2800" dirty="0"/>
          </a:p>
        </p:txBody>
      </p:sp>
      <p:sp>
        <p:nvSpPr>
          <p:cNvPr id="3" name="Card1"/>
          <p:cNvSpPr/>
          <p:nvPr/>
        </p:nvSpPr>
        <p:spPr>
          <a:xfrm>
            <a:off x="457200" y="1188720"/>
            <a:ext cx="2651760" cy="3017520"/>
          </a:xfrm>
          <a:prstGeom prst="roundRect">
            <a:avLst>
              <a:gd name="adj" fmla="val 3448"/>
            </a:avLst>
          </a:prstGeom>
          <a:solidFill>
            <a:srgbClr val="F3F6F8"/>
          </a:solidFill>
          <a:ln/>
          <a:effectLst>
            <a:outerShdw sx="100000" sy="100000" kx="0" ky="0" algn="bl" rotWithShape="0" blurRad="76200" dist="25400" dir="5400000">
              <a:srgbClr val="000000">
                <a:alpha val="12000"/>
              </a:srgbClr>
            </a:outerShdw>
          </a:effectLst>
        </p:spPr>
      </p:sp>
      <p:sp>
        <p:nvSpPr>
          <p:cNvPr id="4" name="Text 2"/>
          <p:cNvSpPr txBox="1"/>
          <p:nvPr/>
        </p:nvSpPr>
        <p:spPr>
          <a:xfrm>
            <a:off x="640080" y="1280160"/>
            <a:ext cx="2286000" cy="1280160"/>
          </a:xfrm>
          <a:prstGeom prst="rect">
            <a:avLst/>
          </a:prstGeom>
          <a:noFill/>
          <a:ln/>
        </p:spPr>
        <p:txBody>
          <a:bodyPr wrap="square" lIns="0" tIns="0" rIns="0" bIns="0" rtlCol="0" anchor="t"/>
          <a:lstStyle/>
          <a:p>
            <a:pPr indent="0" marL="0">
              <a:buNone/>
            </a:pPr>
            <a:r>
              <a:rPr lang="en-US" sz="4400" b="1" dirty="0">
                <a:solidFill>
                  <a:srgbClr val="1C6E8C"/>
                </a:solidFill>
                <a:latin typeface="Cambria" pitchFamily="34" charset="0"/>
                <a:ea typeface="Cambria" pitchFamily="34" charset="-122"/>
                <a:cs typeface="Cambria" pitchFamily="34" charset="-120"/>
              </a:rPr>
              <a:t>1</a:t>
            </a:r>
            <a:endParaRPr lang="en-US" sz="4400" dirty="0"/>
          </a:p>
          <a:p>
            <a:pPr indent="0" marL="0">
              <a:buNone/>
            </a:pPr>
            <a:r>
              <a:rPr lang="en-US" sz="1500" b="1" dirty="0">
                <a:solidFill>
                  <a:srgbClr val="0F2D40"/>
                </a:solidFill>
                <a:latin typeface="Calibri" pitchFamily="34" charset="0"/>
                <a:ea typeface="Calibri" pitchFamily="34" charset="-122"/>
                <a:cs typeface="Calibri" pitchFamily="34" charset="-120"/>
              </a:rPr>
              <a:t>tầng services dùng chung</a:t>
            </a:r>
            <a:endParaRPr lang="en-US" sz="4400" dirty="0"/>
          </a:p>
        </p:txBody>
      </p:sp>
      <p:sp>
        <p:nvSpPr>
          <p:cNvPr id="5" name="Text 3"/>
          <p:cNvSpPr txBox="1"/>
          <p:nvPr/>
        </p:nvSpPr>
        <p:spPr>
          <a:xfrm>
            <a:off x="640080" y="2651760"/>
            <a:ext cx="228600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A33"/>
                </a:solidFill>
                <a:latin typeface="Calibri" pitchFamily="34" charset="0"/>
                <a:ea typeface="Calibri" pitchFamily="34" charset="-122"/>
                <a:cs typeface="Calibri" pitchFamily="34" charset="-120"/>
              </a:rPr>
              <a:t>Giao diện, dòng lệnh và dashboard cùng gọi</a:t>
            </a:r>
            <a:endParaRPr lang="en-US" sz="1500" dirty="0"/>
          </a:p>
          <a:p>
            <a:pPr marL="342900" indent="-342900">
              <a:spcAft>
                <a:spcPts val="800"/>
              </a:spcAft>
              <a:buSzPct val="100000"/>
              <a:buChar char="•"/>
            </a:pPr>
            <a:r>
              <a:rPr lang="en-US" sz="1500" dirty="0">
                <a:solidFill>
                  <a:srgbClr val="1B2A33"/>
                </a:solidFill>
                <a:latin typeface="Calibri" pitchFamily="34" charset="0"/>
                <a:ea typeface="Calibri" pitchFamily="34" charset="-122"/>
                <a:cs typeface="Calibri" pitchFamily="34" charset="-120"/>
              </a:rPr>
              <a:t>Lập chỉ mục chạy nền, có tiến độ và huỷ</a:t>
            </a:r>
            <a:endParaRPr lang="en-US" sz="1500" dirty="0"/>
          </a:p>
        </p:txBody>
      </p:sp>
      <p:sp>
        <p:nvSpPr>
          <p:cNvPr id="6" name="Card2"/>
          <p:cNvSpPr/>
          <p:nvPr/>
        </p:nvSpPr>
        <p:spPr>
          <a:xfrm>
            <a:off x="3246120" y="1188720"/>
            <a:ext cx="2651760" cy="3017520"/>
          </a:xfrm>
          <a:prstGeom prst="roundRect">
            <a:avLst>
              <a:gd name="adj" fmla="val 3448"/>
            </a:avLst>
          </a:prstGeom>
          <a:solidFill>
            <a:srgbClr val="F3F6F8"/>
          </a:solidFill>
          <a:ln/>
          <a:effectLst>
            <a:outerShdw sx="100000" sy="100000" kx="0" ky="0" algn="bl" rotWithShape="0" blurRad="76200" dist="25400" dir="5400000">
              <a:srgbClr val="000000">
                <a:alpha val="12000"/>
              </a:srgbClr>
            </a:outerShdw>
          </a:effectLst>
        </p:spPr>
      </p:sp>
      <p:sp>
        <p:nvSpPr>
          <p:cNvPr id="7" name="Text 5"/>
          <p:cNvSpPr txBox="1"/>
          <p:nvPr/>
        </p:nvSpPr>
        <p:spPr>
          <a:xfrm>
            <a:off x="3429000" y="1280160"/>
            <a:ext cx="2286000" cy="1280160"/>
          </a:xfrm>
          <a:prstGeom prst="rect">
            <a:avLst/>
          </a:prstGeom>
          <a:noFill/>
          <a:ln/>
        </p:spPr>
        <p:txBody>
          <a:bodyPr wrap="square" lIns="0" tIns="0" rIns="0" bIns="0" rtlCol="0" anchor="t"/>
          <a:lstStyle/>
          <a:p>
            <a:pPr indent="0" marL="0">
              <a:buNone/>
            </a:pPr>
            <a:r>
              <a:rPr lang="en-US" sz="4400" b="1" dirty="0">
                <a:solidFill>
                  <a:srgbClr val="1C6E8C"/>
                </a:solidFill>
                <a:latin typeface="Cambria" pitchFamily="34" charset="0"/>
                <a:ea typeface="Cambria" pitchFamily="34" charset="-122"/>
                <a:cs typeface="Cambria" pitchFamily="34" charset="-120"/>
              </a:rPr>
              <a:t>9</a:t>
            </a:r>
            <a:endParaRPr lang="en-US" sz="4400" dirty="0"/>
          </a:p>
          <a:p>
            <a:pPr indent="0" marL="0">
              <a:buNone/>
            </a:pPr>
            <a:r>
              <a:rPr lang="en-US" sz="1500" b="1" dirty="0">
                <a:solidFill>
                  <a:srgbClr val="0F2D40"/>
                </a:solidFill>
                <a:latin typeface="Calibri" pitchFamily="34" charset="0"/>
                <a:ea typeface="Calibri" pitchFamily="34" charset="-122"/>
                <a:cs typeface="Calibri" pitchFamily="34" charset="-120"/>
              </a:rPr>
              <a:t>bảng PostgreSQL 18</a:t>
            </a:r>
            <a:endParaRPr lang="en-US" sz="4400" dirty="0"/>
          </a:p>
        </p:txBody>
      </p:sp>
      <p:sp>
        <p:nvSpPr>
          <p:cNvPr id="8" name="Text 6"/>
          <p:cNvSpPr txBox="1"/>
          <p:nvPr/>
        </p:nvSpPr>
        <p:spPr>
          <a:xfrm>
            <a:off x="3429000" y="2651760"/>
            <a:ext cx="228600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A33"/>
                </a:solidFill>
                <a:latin typeface="Calibri" pitchFamily="34" charset="0"/>
                <a:ea typeface="Calibri" pitchFamily="34" charset="-122"/>
                <a:cs typeface="Calibri" pitchFamily="34" charset="-120"/>
              </a:rPr>
              <a:t>SQLAlchemy bất đồng bộ, Alembic migration</a:t>
            </a:r>
            <a:endParaRPr lang="en-US" sz="1500" dirty="0"/>
          </a:p>
          <a:p>
            <a:pPr marL="342900" indent="-342900">
              <a:spcAft>
                <a:spcPts val="800"/>
              </a:spcAft>
              <a:buSzPct val="100000"/>
              <a:buChar char="•"/>
            </a:pPr>
            <a:r>
              <a:rPr lang="en-US" sz="1500" dirty="0">
                <a:solidFill>
                  <a:srgbClr val="1B2A33"/>
                </a:solidFill>
                <a:latin typeface="Calibri" pitchFamily="34" charset="0"/>
                <a:ea typeface="Calibri" pitchFamily="34" charset="-122"/>
                <a:cs typeface="Calibri" pitchFamily="34" charset="-120"/>
              </a:rPr>
              <a:t>Project, tài liệu, phiên chat, tin nhắn, trích dẫn</a:t>
            </a:r>
            <a:endParaRPr lang="en-US" sz="1500" dirty="0"/>
          </a:p>
        </p:txBody>
      </p:sp>
      <p:sp>
        <p:nvSpPr>
          <p:cNvPr id="9" name="Card3"/>
          <p:cNvSpPr/>
          <p:nvPr/>
        </p:nvSpPr>
        <p:spPr>
          <a:xfrm>
            <a:off x="6035040" y="1188720"/>
            <a:ext cx="2651760" cy="3017520"/>
          </a:xfrm>
          <a:prstGeom prst="roundRect">
            <a:avLst>
              <a:gd name="adj" fmla="val 3448"/>
            </a:avLst>
          </a:prstGeom>
          <a:solidFill>
            <a:srgbClr val="F3F6F8"/>
          </a:solidFill>
          <a:ln/>
          <a:effectLst>
            <a:outerShdw sx="100000" sy="100000" kx="0" ky="0" algn="bl" rotWithShape="0" blurRad="76200" dist="25400" dir="5400000">
              <a:srgbClr val="000000">
                <a:alpha val="12000"/>
              </a:srgbClr>
            </a:outerShdw>
          </a:effectLst>
        </p:spPr>
      </p:sp>
      <p:sp>
        <p:nvSpPr>
          <p:cNvPr id="10" name="Text 8"/>
          <p:cNvSpPr txBox="1"/>
          <p:nvPr/>
        </p:nvSpPr>
        <p:spPr>
          <a:xfrm>
            <a:off x="6217920" y="1280160"/>
            <a:ext cx="2286000" cy="1280160"/>
          </a:xfrm>
          <a:prstGeom prst="rect">
            <a:avLst/>
          </a:prstGeom>
          <a:noFill/>
          <a:ln/>
        </p:spPr>
        <p:txBody>
          <a:bodyPr wrap="square" lIns="0" tIns="0" rIns="0" bIns="0" rtlCol="0" anchor="t"/>
          <a:lstStyle/>
          <a:p>
            <a:pPr indent="0" marL="0">
              <a:buNone/>
            </a:pPr>
            <a:r>
              <a:rPr lang="en-US" sz="4400" b="1" dirty="0">
                <a:solidFill>
                  <a:srgbClr val="1C6E8C"/>
                </a:solidFill>
                <a:latin typeface="Cambria" pitchFamily="34" charset="0"/>
                <a:ea typeface="Cambria" pitchFamily="34" charset="-122"/>
                <a:cs typeface="Cambria" pitchFamily="34" charset="-120"/>
              </a:rPr>
              <a:t>5</a:t>
            </a:r>
            <a:endParaRPr lang="en-US" sz="4400" dirty="0"/>
          </a:p>
          <a:p>
            <a:pPr indent="0" marL="0">
              <a:buNone/>
            </a:pPr>
            <a:r>
              <a:rPr lang="en-US" sz="1500" b="1" dirty="0">
                <a:solidFill>
                  <a:srgbClr val="0F2D40"/>
                </a:solidFill>
                <a:latin typeface="Calibri" pitchFamily="34" charset="0"/>
                <a:ea typeface="Calibri" pitchFamily="34" charset="-122"/>
                <a:cs typeface="Calibri" pitchFamily="34" charset="-120"/>
              </a:rPr>
              <a:t>lượt hội thoại gần nhất</a:t>
            </a:r>
            <a:endParaRPr lang="en-US" sz="4400" dirty="0"/>
          </a:p>
        </p:txBody>
      </p:sp>
      <p:sp>
        <p:nvSpPr>
          <p:cNvPr id="11" name="Text 9"/>
          <p:cNvSpPr txBox="1"/>
          <p:nvPr/>
        </p:nvSpPr>
        <p:spPr>
          <a:xfrm>
            <a:off x="6217920" y="2651760"/>
            <a:ext cx="228600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A33"/>
                </a:solidFill>
                <a:latin typeface="Calibri" pitchFamily="34" charset="0"/>
                <a:ea typeface="Calibri" pitchFamily="34" charset="-122"/>
                <a:cs typeface="Calibri" pitchFamily="34" charset="-120"/>
              </a:rPr>
              <a:t>Nén lịch sử cũ bằng LLM</a:t>
            </a:r>
            <a:endParaRPr lang="en-US" sz="1500" dirty="0"/>
          </a:p>
          <a:p>
            <a:pPr marL="342900" indent="-342900">
              <a:spcAft>
                <a:spcPts val="800"/>
              </a:spcAft>
              <a:buSzPct val="100000"/>
              <a:buChar char="•"/>
            </a:pPr>
            <a:r>
              <a:rPr lang="en-US" sz="1500" dirty="0">
                <a:solidFill>
                  <a:srgbClr val="1B2A33"/>
                </a:solidFill>
                <a:latin typeface="Calibri" pitchFamily="34" charset="0"/>
                <a:ea typeface="Calibri" pitchFamily="34" charset="-122"/>
                <a:cs typeface="Calibri" pitchFamily="34" charset="-120"/>
              </a:rPr>
              <a:t>Viết lại câu hỏi nối tiếp thành câu đầy đủ</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1B2A33"/>
                </a:solidFill>
                <a:latin typeface="Cambria" pitchFamily="34" charset="0"/>
                <a:ea typeface="Cambria" pitchFamily="34" charset="-122"/>
                <a:cs typeface="Cambria" pitchFamily="34" charset="-120"/>
              </a:rPr>
              <a:t>Demo trên giáo trình Pháp luật đại cương</a:t>
            </a:r>
            <a:endParaRPr lang="en-US" sz="2800" dirty="0"/>
          </a:p>
        </p:txBody>
      </p:sp>
      <p:sp>
        <p:nvSpPr>
          <p:cNvPr id="3" name="DemoNum1"/>
          <p:cNvSpPr/>
          <p:nvPr/>
        </p:nvSpPr>
        <p:spPr>
          <a:xfrm>
            <a:off x="457200" y="1234440"/>
            <a:ext cx="457200" cy="457200"/>
          </a:xfrm>
          <a:prstGeom prst="ellipse">
            <a:avLst/>
          </a:prstGeom>
          <a:solidFill>
            <a:srgbClr val="F2A93B"/>
          </a:solidFill>
          <a:ln/>
        </p:spPr>
      </p:sp>
      <p:sp>
        <p:nvSpPr>
          <p:cNvPr id="4" name="Text 2"/>
          <p:cNvSpPr txBox="1"/>
          <p:nvPr/>
        </p:nvSpPr>
        <p:spPr>
          <a:xfrm>
            <a:off x="457200" y="1234440"/>
            <a:ext cx="457200" cy="457200"/>
          </a:xfrm>
          <a:prstGeom prst="rect">
            <a:avLst/>
          </a:prstGeom>
          <a:noFill/>
          <a:ln/>
        </p:spPr>
        <p:txBody>
          <a:bodyPr wrap="square" lIns="0" tIns="0" rIns="0" bIns="0" rtlCol="0" anchor="ctr"/>
          <a:lstStyle/>
          <a:p>
            <a:pPr algn="ctr" indent="0" marL="0">
              <a:buNone/>
            </a:pPr>
            <a:r>
              <a:rPr lang="en-US" sz="1800" b="1" dirty="0">
                <a:solidFill>
                  <a:srgbClr val="0F2D40"/>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097280" y="1188720"/>
            <a:ext cx="3291840" cy="731520"/>
          </a:xfrm>
          <a:prstGeom prst="rect">
            <a:avLst/>
          </a:prstGeom>
          <a:noFill/>
          <a:ln/>
        </p:spPr>
        <p:txBody>
          <a:bodyPr wrap="square" lIns="0" tIns="0" rIns="0" bIns="0" rtlCol="0" anchor="ctr"/>
          <a:lstStyle/>
          <a:p>
            <a:pPr indent="0" marL="0">
              <a:buNone/>
            </a:pPr>
            <a:r>
              <a:rPr lang="en-US" sz="1600" dirty="0">
                <a:solidFill>
                  <a:srgbClr val="1B2A33"/>
                </a:solidFill>
                <a:latin typeface="Calibri" pitchFamily="34" charset="0"/>
                <a:ea typeface="Calibri" pitchFamily="34" charset="-122"/>
                <a:cs typeface="Calibri" pitchFamily="34" charset="-120"/>
              </a:rPr>
              <a:t>Mở project, xem cây chỉ mục của tài liệu</a:t>
            </a:r>
            <a:endParaRPr lang="en-US" sz="1600" dirty="0"/>
          </a:p>
        </p:txBody>
      </p:sp>
      <p:sp>
        <p:nvSpPr>
          <p:cNvPr id="6" name="DemoNum2"/>
          <p:cNvSpPr/>
          <p:nvPr/>
        </p:nvSpPr>
        <p:spPr>
          <a:xfrm>
            <a:off x="457200" y="2103120"/>
            <a:ext cx="457200" cy="457200"/>
          </a:xfrm>
          <a:prstGeom prst="ellipse">
            <a:avLst/>
          </a:prstGeom>
          <a:solidFill>
            <a:srgbClr val="F2A93B"/>
          </a:solidFill>
          <a:ln/>
        </p:spPr>
      </p:sp>
      <p:sp>
        <p:nvSpPr>
          <p:cNvPr id="7" name="Text 5"/>
          <p:cNvSpPr txBox="1"/>
          <p:nvPr/>
        </p:nvSpPr>
        <p:spPr>
          <a:xfrm>
            <a:off x="457200" y="2103120"/>
            <a:ext cx="457200" cy="457200"/>
          </a:xfrm>
          <a:prstGeom prst="rect">
            <a:avLst/>
          </a:prstGeom>
          <a:noFill/>
          <a:ln/>
        </p:spPr>
        <p:txBody>
          <a:bodyPr wrap="square" lIns="0" tIns="0" rIns="0" bIns="0" rtlCol="0" anchor="ctr"/>
          <a:lstStyle/>
          <a:p>
            <a:pPr algn="ctr" indent="0" marL="0">
              <a:buNone/>
            </a:pPr>
            <a:r>
              <a:rPr lang="en-US" sz="1800" b="1" dirty="0">
                <a:solidFill>
                  <a:srgbClr val="0F2D40"/>
                </a:solidFill>
                <a:latin typeface="Cambria" pitchFamily="34" charset="0"/>
                <a:ea typeface="Cambria" pitchFamily="34" charset="-122"/>
                <a:cs typeface="Cambria" pitchFamily="34" charset="-120"/>
              </a:rPr>
              <a:t>2</a:t>
            </a:r>
            <a:endParaRPr lang="en-US" sz="1800" dirty="0"/>
          </a:p>
        </p:txBody>
      </p:sp>
      <p:sp>
        <p:nvSpPr>
          <p:cNvPr id="8" name="Text 6"/>
          <p:cNvSpPr txBox="1"/>
          <p:nvPr/>
        </p:nvSpPr>
        <p:spPr>
          <a:xfrm>
            <a:off x="1097280" y="2057400"/>
            <a:ext cx="3291840" cy="731520"/>
          </a:xfrm>
          <a:prstGeom prst="rect">
            <a:avLst/>
          </a:prstGeom>
          <a:noFill/>
          <a:ln/>
        </p:spPr>
        <p:txBody>
          <a:bodyPr wrap="square" lIns="0" tIns="0" rIns="0" bIns="0" rtlCol="0" anchor="ctr"/>
          <a:lstStyle/>
          <a:p>
            <a:pPr indent="0" marL="0">
              <a:buNone/>
            </a:pPr>
            <a:r>
              <a:rPr lang="en-US" sz="1600" dirty="0">
                <a:solidFill>
                  <a:srgbClr val="1B2A33"/>
                </a:solidFill>
                <a:latin typeface="Calibri" pitchFamily="34" charset="0"/>
                <a:ea typeface="Calibri" pitchFamily="34" charset="-122"/>
                <a:cs typeface="Calibri" pitchFamily="34" charset="-120"/>
              </a:rPr>
              <a:t>Hỏi câu so sánh để thấy các khía cạnh chạy song song</a:t>
            </a:r>
            <a:endParaRPr lang="en-US" sz="1600" dirty="0"/>
          </a:p>
        </p:txBody>
      </p:sp>
      <p:sp>
        <p:nvSpPr>
          <p:cNvPr id="9" name="DemoNum3"/>
          <p:cNvSpPr/>
          <p:nvPr/>
        </p:nvSpPr>
        <p:spPr>
          <a:xfrm>
            <a:off x="457200" y="2971800"/>
            <a:ext cx="457200" cy="457200"/>
          </a:xfrm>
          <a:prstGeom prst="ellipse">
            <a:avLst/>
          </a:prstGeom>
          <a:solidFill>
            <a:srgbClr val="F2A93B"/>
          </a:solidFill>
          <a:ln/>
        </p:spPr>
      </p:sp>
      <p:sp>
        <p:nvSpPr>
          <p:cNvPr id="10" name="Text 8"/>
          <p:cNvSpPr txBox="1"/>
          <p:nvPr/>
        </p:nvSpPr>
        <p:spPr>
          <a:xfrm>
            <a:off x="457200" y="2971800"/>
            <a:ext cx="457200" cy="457200"/>
          </a:xfrm>
          <a:prstGeom prst="rect">
            <a:avLst/>
          </a:prstGeom>
          <a:noFill/>
          <a:ln/>
        </p:spPr>
        <p:txBody>
          <a:bodyPr wrap="square" lIns="0" tIns="0" rIns="0" bIns="0" rtlCol="0" anchor="ctr"/>
          <a:lstStyle/>
          <a:p>
            <a:pPr algn="ctr" indent="0" marL="0">
              <a:buNone/>
            </a:pPr>
            <a:r>
              <a:rPr lang="en-US" sz="1800" b="1" dirty="0">
                <a:solidFill>
                  <a:srgbClr val="0F2D40"/>
                </a:solidFill>
                <a:latin typeface="Cambria" pitchFamily="34" charset="0"/>
                <a:ea typeface="Cambria" pitchFamily="34" charset="-122"/>
                <a:cs typeface="Cambria" pitchFamily="34" charset="-120"/>
              </a:rPr>
              <a:t>3</a:t>
            </a:r>
            <a:endParaRPr lang="en-US" sz="1800" dirty="0"/>
          </a:p>
        </p:txBody>
      </p:sp>
      <p:sp>
        <p:nvSpPr>
          <p:cNvPr id="11" name="Text 9"/>
          <p:cNvSpPr txBox="1"/>
          <p:nvPr/>
        </p:nvSpPr>
        <p:spPr>
          <a:xfrm>
            <a:off x="1097280" y="2926080"/>
            <a:ext cx="3291840" cy="731520"/>
          </a:xfrm>
          <a:prstGeom prst="rect">
            <a:avLst/>
          </a:prstGeom>
          <a:noFill/>
          <a:ln/>
        </p:spPr>
        <p:txBody>
          <a:bodyPr wrap="square" lIns="0" tIns="0" rIns="0" bIns="0" rtlCol="0" anchor="ctr"/>
          <a:lstStyle/>
          <a:p>
            <a:pPr indent="0" marL="0">
              <a:buNone/>
            </a:pPr>
            <a:r>
              <a:rPr lang="en-US" sz="1600" dirty="0">
                <a:solidFill>
                  <a:srgbClr val="1B2A33"/>
                </a:solidFill>
                <a:latin typeface="Calibri" pitchFamily="34" charset="0"/>
                <a:ea typeface="Calibri" pitchFamily="34" charset="-122"/>
                <a:cs typeface="Calibri" pitchFamily="34" charset="-120"/>
              </a:rPr>
              <a:t>Bấm vào trích dẫn để xem đoạn nguồn</a:t>
            </a:r>
            <a:endParaRPr lang="en-US" sz="1600" dirty="0"/>
          </a:p>
        </p:txBody>
      </p:sp>
      <p:sp>
        <p:nvSpPr>
          <p:cNvPr id="12" name="DemoNum4"/>
          <p:cNvSpPr/>
          <p:nvPr/>
        </p:nvSpPr>
        <p:spPr>
          <a:xfrm>
            <a:off x="457200" y="3840480"/>
            <a:ext cx="457200" cy="457200"/>
          </a:xfrm>
          <a:prstGeom prst="ellipse">
            <a:avLst/>
          </a:prstGeom>
          <a:solidFill>
            <a:srgbClr val="F2A93B"/>
          </a:solidFill>
          <a:ln/>
        </p:spPr>
      </p:sp>
      <p:sp>
        <p:nvSpPr>
          <p:cNvPr id="13" name="Text 11"/>
          <p:cNvSpPr txBox="1"/>
          <p:nvPr/>
        </p:nvSpPr>
        <p:spPr>
          <a:xfrm>
            <a:off x="457200" y="3840480"/>
            <a:ext cx="457200" cy="457200"/>
          </a:xfrm>
          <a:prstGeom prst="rect">
            <a:avLst/>
          </a:prstGeom>
          <a:noFill/>
          <a:ln/>
        </p:spPr>
        <p:txBody>
          <a:bodyPr wrap="square" lIns="0" tIns="0" rIns="0" bIns="0" rtlCol="0" anchor="ctr"/>
          <a:lstStyle/>
          <a:p>
            <a:pPr algn="ctr" indent="0" marL="0">
              <a:buNone/>
            </a:pPr>
            <a:r>
              <a:rPr lang="en-US" sz="1800" b="1" dirty="0">
                <a:solidFill>
                  <a:srgbClr val="0F2D40"/>
                </a:solidFill>
                <a:latin typeface="Cambria" pitchFamily="34" charset="0"/>
                <a:ea typeface="Cambria" pitchFamily="34" charset="-122"/>
                <a:cs typeface="Cambria" pitchFamily="34" charset="-120"/>
              </a:rPr>
              <a:t>4</a:t>
            </a:r>
            <a:endParaRPr lang="en-US" sz="1800" dirty="0"/>
          </a:p>
        </p:txBody>
      </p:sp>
      <p:sp>
        <p:nvSpPr>
          <p:cNvPr id="14" name="Text 12"/>
          <p:cNvSpPr txBox="1"/>
          <p:nvPr/>
        </p:nvSpPr>
        <p:spPr>
          <a:xfrm>
            <a:off x="1097280" y="3794760"/>
            <a:ext cx="3291840" cy="731520"/>
          </a:xfrm>
          <a:prstGeom prst="rect">
            <a:avLst/>
          </a:prstGeom>
          <a:noFill/>
          <a:ln/>
        </p:spPr>
        <p:txBody>
          <a:bodyPr wrap="square" lIns="0" tIns="0" rIns="0" bIns="0" rtlCol="0" anchor="ctr"/>
          <a:lstStyle/>
          <a:p>
            <a:pPr indent="0" marL="0">
              <a:buNone/>
            </a:pPr>
            <a:r>
              <a:rPr lang="en-US" sz="1600" dirty="0">
                <a:solidFill>
                  <a:srgbClr val="1B2A33"/>
                </a:solidFill>
                <a:latin typeface="Calibri" pitchFamily="34" charset="0"/>
                <a:ea typeface="Calibri" pitchFamily="34" charset="-122"/>
                <a:cs typeface="Calibri" pitchFamily="34" charset="-120"/>
              </a:rPr>
              <a:t>Hỏi câu nối tiếp để thấy bộ nhớ hoạt động</a:t>
            </a:r>
            <a:endParaRPr lang="en-US" sz="1600" dirty="0"/>
          </a:p>
        </p:txBody>
      </p:sp>
      <p:sp>
        <p:nvSpPr>
          <p:cNvPr id="15" name="ScreenshotFrame"/>
          <p:cNvSpPr/>
          <p:nvPr/>
        </p:nvSpPr>
        <p:spPr>
          <a:xfrm>
            <a:off x="4663440" y="1188720"/>
            <a:ext cx="4023360" cy="2834640"/>
          </a:xfrm>
          <a:prstGeom prst="rect">
            <a:avLst/>
          </a:prstGeom>
          <a:solidFill>
            <a:srgbClr val="F3F6F8"/>
          </a:solidFill>
          <a:ln/>
          <a:effectLst>
            <a:outerShdw sx="100000" sy="100000" kx="0" ky="0" algn="bl" rotWithShape="0" blurRad="76200" dist="25400" dir="5400000">
              <a:srgbClr val="000000">
                <a:alpha val="12000"/>
              </a:srgbClr>
            </a:outerShdw>
          </a:effectLst>
        </p:spPr>
      </p:sp>
      <p:pic>
        <p:nvPicPr>
          <p:cNvPr id="16" name="Ảnh chụp màn hình giao diện chat" descr="Ảnh chụp màn hình giao diện chat">    </p:cNvPr>
          <p:cNvPicPr>
            <a:picLocks noChangeAspect="1"/>
          </p:cNvPicPr>
          <p:nvPr/>
        </p:nvPicPr>
        <p:blipFill>
          <a:blip r:embed="rId1"/>
          <a:stretch>
            <a:fillRect/>
          </a:stretch>
        </p:blipFill>
        <p:spPr>
          <a:xfrm>
            <a:off x="4709160" y="1240790"/>
            <a:ext cx="3931920" cy="2730500"/>
          </a:xfrm>
          <a:prstGeom prst="rect">
            <a:avLst/>
          </a:prstGeom>
        </p:spPr>
      </p:pic>
      <p:sp>
        <p:nvSpPr>
          <p:cNvPr id="17" name="Text 14"/>
          <p:cNvSpPr txBox="1"/>
          <p:nvPr/>
        </p:nvSpPr>
        <p:spPr>
          <a:xfrm>
            <a:off x="4663440" y="4160520"/>
            <a:ext cx="4023360" cy="548640"/>
          </a:xfrm>
          <a:prstGeom prst="rect">
            <a:avLst/>
          </a:prstGeom>
          <a:noFill/>
          <a:ln/>
        </p:spPr>
        <p:txBody>
          <a:bodyPr wrap="square" lIns="0" tIns="0" rIns="0" bIns="0" rtlCol="0" anchor="ctr"/>
          <a:lstStyle/>
          <a:p>
            <a:pPr indent="0" marL="0">
              <a:buNone/>
            </a:pPr>
            <a:r>
              <a:rPr lang="en-US" sz="1300" i="1" dirty="0">
                <a:solidFill>
                  <a:srgbClr val="5B6B75"/>
                </a:solidFill>
                <a:latin typeface="Calibri" pitchFamily="34" charset="0"/>
                <a:ea typeface="Calibri" pitchFamily="34" charset="-122"/>
                <a:cs typeface="Calibri" pitchFamily="34" charset="-120"/>
              </a:rPr>
              <a:t>Câu hỏi gợi ý: “So sánh quy phạm pháp luật và quy phạm đạo đức”</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D40"/>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Kết luận</a:t>
            </a:r>
            <a:endParaRPr lang="en-US" sz="3200" dirty="0"/>
          </a:p>
        </p:txBody>
      </p:sp>
      <p:sp>
        <p:nvSpPr>
          <p:cNvPr id="3" name="ConclCard1"/>
          <p:cNvSpPr/>
          <p:nvPr/>
        </p:nvSpPr>
        <p:spPr>
          <a:xfrm>
            <a:off x="548640" y="1280160"/>
            <a:ext cx="2651760" cy="2743200"/>
          </a:xfrm>
          <a:prstGeom prst="roundRect">
            <a:avLst>
              <a:gd name="adj" fmla="val 3448"/>
            </a:avLst>
          </a:prstGeom>
          <a:solidFill>
            <a:srgbClr val="1A4560"/>
          </a:solidFill>
          <a:ln/>
        </p:spPr>
      </p:sp>
      <p:sp>
        <p:nvSpPr>
          <p:cNvPr id="4" name="Text 2"/>
          <p:cNvSpPr txBox="1"/>
          <p:nvPr/>
        </p:nvSpPr>
        <p:spPr>
          <a:xfrm>
            <a:off x="731520" y="1371600"/>
            <a:ext cx="2286000" cy="457200"/>
          </a:xfrm>
          <a:prstGeom prst="rect">
            <a:avLst/>
          </a:prstGeom>
          <a:noFill/>
          <a:ln/>
        </p:spPr>
        <p:txBody>
          <a:bodyPr wrap="square" lIns="0" tIns="0" rIns="0" bIns="0" rtlCol="0" anchor="ctr"/>
          <a:lstStyle/>
          <a:p>
            <a:pPr indent="0" marL="0">
              <a:buNone/>
            </a:pPr>
            <a:r>
              <a:rPr lang="en-US" sz="1800" b="1" dirty="0">
                <a:solidFill>
                  <a:srgbClr val="F2A93B"/>
                </a:solidFill>
                <a:latin typeface="Cambria" pitchFamily="34" charset="0"/>
                <a:ea typeface="Cambria" pitchFamily="34" charset="-122"/>
                <a:cs typeface="Cambria" pitchFamily="34" charset="-120"/>
              </a:rPr>
              <a:t>Đã làm được</a:t>
            </a:r>
            <a:endParaRPr lang="en-US" sz="1800" dirty="0"/>
          </a:p>
        </p:txBody>
      </p:sp>
      <p:sp>
        <p:nvSpPr>
          <p:cNvPr id="5" name="Text 3"/>
          <p:cNvSpPr txBox="1"/>
          <p:nvPr/>
        </p:nvSpPr>
        <p:spPr>
          <a:xfrm>
            <a:off x="731520" y="1874520"/>
            <a:ext cx="2286000" cy="2057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Cây heading giữ cấu trúc và trích dẫn tới dòng nguồn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Agent đa khía cạnh đạt 8,54/10</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Hệ thống đủ backend, cơ sở dữ liệu, bộ nhớ, giao diện</a:t>
            </a:r>
            <a:endParaRPr lang="en-US" sz="1400" dirty="0"/>
          </a:p>
        </p:txBody>
      </p:sp>
      <p:sp>
        <p:nvSpPr>
          <p:cNvPr id="6" name="ConclCard2"/>
          <p:cNvSpPr/>
          <p:nvPr/>
        </p:nvSpPr>
        <p:spPr>
          <a:xfrm>
            <a:off x="3337560" y="1280160"/>
            <a:ext cx="2651760" cy="2743200"/>
          </a:xfrm>
          <a:prstGeom prst="roundRect">
            <a:avLst>
              <a:gd name="adj" fmla="val 3448"/>
            </a:avLst>
          </a:prstGeom>
          <a:solidFill>
            <a:srgbClr val="1A4560"/>
          </a:solidFill>
          <a:ln/>
        </p:spPr>
      </p:sp>
      <p:sp>
        <p:nvSpPr>
          <p:cNvPr id="7" name="Text 5"/>
          <p:cNvSpPr txBox="1"/>
          <p:nvPr/>
        </p:nvSpPr>
        <p:spPr>
          <a:xfrm>
            <a:off x="3520440" y="1371600"/>
            <a:ext cx="2286000" cy="457200"/>
          </a:xfrm>
          <a:prstGeom prst="rect">
            <a:avLst/>
          </a:prstGeom>
          <a:noFill/>
          <a:ln/>
        </p:spPr>
        <p:txBody>
          <a:bodyPr wrap="square" lIns="0" tIns="0" rIns="0" bIns="0" rtlCol="0" anchor="ctr"/>
          <a:lstStyle/>
          <a:p>
            <a:pPr indent="0" marL="0">
              <a:buNone/>
            </a:pPr>
            <a:r>
              <a:rPr lang="en-US" sz="1800" b="1" dirty="0">
                <a:solidFill>
                  <a:srgbClr val="F2A93B"/>
                </a:solidFill>
                <a:latin typeface="Cambria" pitchFamily="34" charset="0"/>
                <a:ea typeface="Cambria" pitchFamily="34" charset="-122"/>
                <a:cs typeface="Cambria" pitchFamily="34" charset="-120"/>
              </a:rPr>
              <a:t>Hạn chế</a:t>
            </a:r>
            <a:endParaRPr lang="en-US" sz="1800" dirty="0"/>
          </a:p>
        </p:txBody>
      </p:sp>
      <p:sp>
        <p:nvSpPr>
          <p:cNvPr id="8" name="Text 6"/>
          <p:cNvSpPr txBox="1"/>
          <p:nvPr/>
        </p:nvSpPr>
        <p:spPr>
          <a:xfrm>
            <a:off x="3520440" y="1874520"/>
            <a:ext cx="2286000" cy="2057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Mới thử trên một tài liệu, 30 câu hỏi</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Chưa streaming, chưa có xác thực</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Chưa có bộ nhớ dài hạn</a:t>
            </a:r>
            <a:endParaRPr lang="en-US" sz="1400" dirty="0"/>
          </a:p>
        </p:txBody>
      </p:sp>
      <p:sp>
        <p:nvSpPr>
          <p:cNvPr id="9" name="ConclCard3"/>
          <p:cNvSpPr/>
          <p:nvPr/>
        </p:nvSpPr>
        <p:spPr>
          <a:xfrm>
            <a:off x="6126480" y="1280160"/>
            <a:ext cx="2651760" cy="2743200"/>
          </a:xfrm>
          <a:prstGeom prst="roundRect">
            <a:avLst>
              <a:gd name="adj" fmla="val 3448"/>
            </a:avLst>
          </a:prstGeom>
          <a:solidFill>
            <a:srgbClr val="1A4560"/>
          </a:solidFill>
          <a:ln/>
        </p:spPr>
      </p:sp>
      <p:sp>
        <p:nvSpPr>
          <p:cNvPr id="10" name="Text 8"/>
          <p:cNvSpPr txBox="1"/>
          <p:nvPr/>
        </p:nvSpPr>
        <p:spPr>
          <a:xfrm>
            <a:off x="6309360" y="1371600"/>
            <a:ext cx="2286000" cy="457200"/>
          </a:xfrm>
          <a:prstGeom prst="rect">
            <a:avLst/>
          </a:prstGeom>
          <a:noFill/>
          <a:ln/>
        </p:spPr>
        <p:txBody>
          <a:bodyPr wrap="square" lIns="0" tIns="0" rIns="0" bIns="0" rtlCol="0" anchor="ctr"/>
          <a:lstStyle/>
          <a:p>
            <a:pPr indent="0" marL="0">
              <a:buNone/>
            </a:pPr>
            <a:r>
              <a:rPr lang="en-US" sz="1800" b="1" dirty="0">
                <a:solidFill>
                  <a:srgbClr val="F2A93B"/>
                </a:solidFill>
                <a:latin typeface="Cambria" pitchFamily="34" charset="0"/>
                <a:ea typeface="Cambria" pitchFamily="34" charset="-122"/>
                <a:cs typeface="Cambria" pitchFamily="34" charset="-120"/>
              </a:rPr>
              <a:t>Hướng phát triển</a:t>
            </a:r>
            <a:endParaRPr lang="en-US" sz="1800" dirty="0"/>
          </a:p>
        </p:txBody>
      </p:sp>
      <p:sp>
        <p:nvSpPr>
          <p:cNvPr id="11" name="Text 9"/>
          <p:cNvSpPr txBox="1"/>
          <p:nvPr/>
        </p:nvSpPr>
        <p:spPr>
          <a:xfrm>
            <a:off x="6309360" y="1874520"/>
            <a:ext cx="2286000" cy="2057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Streaming câu trả lời</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pgvector thay cho pickle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Mở rộng nhiều tài liệu, sinh slide từ câu trả lời</a:t>
            </a:r>
            <a:endParaRPr lang="en-US" sz="1400" dirty="0"/>
          </a:p>
        </p:txBody>
      </p:sp>
      <p:sp>
        <p:nvSpPr>
          <p:cNvPr id="12" name="Text 10"/>
          <p:cNvSpPr txBox="1"/>
          <p:nvPr/>
        </p:nvSpPr>
        <p:spPr>
          <a:xfrm>
            <a:off x="548640" y="4343400"/>
            <a:ext cx="8046720" cy="45720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Xin cảm ơn thầy cô đã lắng nghe. Mời thầy cô đặt câu hỏi.</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HRAG - Hierarchical Agentic RAG</dc:title>
  <dc:subject>PptxGenJS Presentation</dc:subject>
  <dc:creator>Nhóm HRAG</dc:creator>
  <cp:lastModifiedBy>Nhóm HRAG</cp:lastModifiedBy>
  <cp:revision>1</cp:revision>
  <dcterms:created xsi:type="dcterms:W3CDTF">2026-10-27T17:55:58Z</dcterms:created>
  <dcterms:modified xsi:type="dcterms:W3CDTF">2026-10-27T17:55:58Z</dcterms:modified>
</cp:coreProperties>
</file>